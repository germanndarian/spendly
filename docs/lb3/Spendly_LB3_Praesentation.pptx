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2b5795e0540482e" /><Relationship Type="http://schemas.openxmlformats.org/officeDocument/2006/relationships/extended-properties" Target="/docProps/app.xml" Id="R2e6188eafc9e4e29" /><Relationship Type="http://schemas.openxmlformats.org/officeDocument/2006/relationships/officeDocument" Target="/ppt/presentation.xml" Id="R791e5b282b4b4ee6" /></Relationships>
</file>

<file path=ppt/presentation.xml><?xml version="1.0" encoding="utf-8"?>
<p:presentation xmlns:p="http://schemas.openxmlformats.org/presentationml/2006/main">
  <p:sldMasterIdLst>
    <p:sldMasterId xmlns:r="http://schemas.openxmlformats.org/officeDocument/2006/relationships" id="2147483648" r:id="Re8a4c45581214f22"/>
  </p:sldMasterIdLst>
  <p:notesMasterIdLst>
    <p:notesMasterId xmlns:r="http://schemas.openxmlformats.org/officeDocument/2006/relationships" r:id="Ra2d01c24a59d4570"/>
  </p:notesMasterIdLst>
  <p:sldIdLst>
    <p:sldId xmlns:r="http://schemas.openxmlformats.org/officeDocument/2006/relationships" id="256" r:id="R03b84c14dd1241fd"/>
    <p:sldId xmlns:r="http://schemas.openxmlformats.org/officeDocument/2006/relationships" id="257" r:id="Ra709b7e7e2f44d9e"/>
    <p:sldId xmlns:r="http://schemas.openxmlformats.org/officeDocument/2006/relationships" id="258" r:id="Rdbd142fed3754c25"/>
    <p:sldId xmlns:r="http://schemas.openxmlformats.org/officeDocument/2006/relationships" id="259" r:id="R97d3988cf1224aa1"/>
    <p:sldId xmlns:r="http://schemas.openxmlformats.org/officeDocument/2006/relationships" id="260" r:id="R4414f1001df94864"/>
    <p:sldId xmlns:r="http://schemas.openxmlformats.org/officeDocument/2006/relationships" id="261" r:id="R360d6a23b7e94d1e"/>
    <p:sldId xmlns:r="http://schemas.openxmlformats.org/officeDocument/2006/relationships" id="262" r:id="R88a9e04b8702463f"/>
    <p:sldId xmlns:r="http://schemas.openxmlformats.org/officeDocument/2006/relationships" id="263" r:id="R64e15f4305de47eb"/>
    <p:sldId xmlns:r="http://schemas.openxmlformats.org/officeDocument/2006/relationships" id="264" r:id="R22724b5971ac4b51"/>
    <p:sldId xmlns:r="http://schemas.openxmlformats.org/officeDocument/2006/relationships" id="265" r:id="R47fe202aa8c0491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eac3351d50f46d2" /><Relationship Type="http://schemas.openxmlformats.org/officeDocument/2006/relationships/slideMaster" Target="/ppt/slideMasters/slideMaster1.xml" Id="Re8a4c45581214f22" /><Relationship Type="http://schemas.openxmlformats.org/officeDocument/2006/relationships/notesMaster" Target="/ppt/notesMasters/notesMaster1.xml" Id="Ra2d01c24a59d4570" /><Relationship Type="http://schemas.openxmlformats.org/officeDocument/2006/relationships/presProps" Target="/ppt/presProps.xml" Id="Rb4ce5ecbd6954f75" /><Relationship Type="http://schemas.openxmlformats.org/officeDocument/2006/relationships/tableStyles" Target="/ppt/tableStyles.xml" Id="R191d96bb61a0427d" /><Relationship Type="http://schemas.openxmlformats.org/officeDocument/2006/relationships/slide" Target="/ppt/slides/slide1.xml" Id="R03b84c14dd1241fd" /><Relationship Type="http://schemas.openxmlformats.org/officeDocument/2006/relationships/slide" Target="/ppt/slides/slide2.xml" Id="Ra709b7e7e2f44d9e" /><Relationship Type="http://schemas.openxmlformats.org/officeDocument/2006/relationships/slide" Target="/ppt/slides/slide3.xml" Id="Rdbd142fed3754c25" /><Relationship Type="http://schemas.openxmlformats.org/officeDocument/2006/relationships/slide" Target="/ppt/slides/slide4.xml" Id="R97d3988cf1224aa1" /><Relationship Type="http://schemas.openxmlformats.org/officeDocument/2006/relationships/slide" Target="/ppt/slides/slide5.xml" Id="R4414f1001df94864" /><Relationship Type="http://schemas.openxmlformats.org/officeDocument/2006/relationships/slide" Target="/ppt/slides/slide6.xml" Id="R360d6a23b7e94d1e" /><Relationship Type="http://schemas.openxmlformats.org/officeDocument/2006/relationships/slide" Target="/ppt/slides/slide7.xml" Id="R88a9e04b8702463f" /><Relationship Type="http://schemas.openxmlformats.org/officeDocument/2006/relationships/slide" Target="/ppt/slides/slide8.xml" Id="R64e15f4305de47eb" /><Relationship Type="http://schemas.openxmlformats.org/officeDocument/2006/relationships/slide" Target="/ppt/slides/slide9.xml" Id="R22724b5971ac4b51" /><Relationship Type="http://schemas.openxmlformats.org/officeDocument/2006/relationships/slide" Target="/ppt/slides/slide10.xml" Id="R47fe202aa8c0491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493b3b08f0c47f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1ebfc7038ec4eac" /><Relationship Type="http://schemas.openxmlformats.org/officeDocument/2006/relationships/notesMaster" Target="/ppt/notesMasters/notesMaster1.xml" Id="Rf9270ad363fd4b7c" /></Relationships>
</file>

<file path=ppt/notesSlides/_rels/notesSlide2.xml.rels>&#65279;<?xml version="1.0" encoding="utf-8"?><Relationships xmlns="http://schemas.openxmlformats.org/package/2006/relationships"><Relationship Type="http://schemas.openxmlformats.org/officeDocument/2006/relationships/slide" Target="/ppt/slides/slide2.xml" Id="R941e326f10694da0" /><Relationship Type="http://schemas.openxmlformats.org/officeDocument/2006/relationships/notesMaster" Target="/ppt/notesMasters/notesMaster1.xml" Id="R2d963cfd4bed4dff" /></Relationships>
</file>

<file path=ppt/notesSlides/_rels/notesSlide3.xml.rels>&#65279;<?xml version="1.0" encoding="utf-8"?><Relationships xmlns="http://schemas.openxmlformats.org/package/2006/relationships"><Relationship Type="http://schemas.openxmlformats.org/officeDocument/2006/relationships/slide" Target="/ppt/slides/slide3.xml" Id="R8f9c631512c24c90" /><Relationship Type="http://schemas.openxmlformats.org/officeDocument/2006/relationships/notesMaster" Target="/ppt/notesMasters/notesMaster1.xml" Id="Ra528d39fe28c441c" /></Relationships>
</file>

<file path=ppt/notesSlides/_rels/notesSlide4.xml.rels>&#65279;<?xml version="1.0" encoding="utf-8"?><Relationships xmlns="http://schemas.openxmlformats.org/package/2006/relationships"><Relationship Type="http://schemas.openxmlformats.org/officeDocument/2006/relationships/slide" Target="/ppt/slides/slide4.xml" Id="Rc3a5ff6ee5a442e7" /><Relationship Type="http://schemas.openxmlformats.org/officeDocument/2006/relationships/notesMaster" Target="/ppt/notesMasters/notesMaster1.xml" Id="R1aaa8783b1904e29" /></Relationships>
</file>

<file path=ppt/notesSlides/_rels/notesSlide5.xml.rels>&#65279;<?xml version="1.0" encoding="utf-8"?><Relationships xmlns="http://schemas.openxmlformats.org/package/2006/relationships"><Relationship Type="http://schemas.openxmlformats.org/officeDocument/2006/relationships/slide" Target="/ppt/slides/slide5.xml" Id="Rf1bd4d90b2224067" /><Relationship Type="http://schemas.openxmlformats.org/officeDocument/2006/relationships/notesMaster" Target="/ppt/notesMasters/notesMaster1.xml" Id="R590be7a7d6c64495" /></Relationships>
</file>

<file path=ppt/notesSlides/_rels/notesSlide6.xml.rels>&#65279;<?xml version="1.0" encoding="utf-8"?><Relationships xmlns="http://schemas.openxmlformats.org/package/2006/relationships"><Relationship Type="http://schemas.openxmlformats.org/officeDocument/2006/relationships/slide" Target="/ppt/slides/slide6.xml" Id="Rfbcf97df6bd24e7d" /><Relationship Type="http://schemas.openxmlformats.org/officeDocument/2006/relationships/notesMaster" Target="/ppt/notesMasters/notesMaster1.xml" Id="R19372bd7114c4307" /></Relationships>
</file>

<file path=ppt/notesSlides/_rels/notesSlide7.xml.rels>&#65279;<?xml version="1.0" encoding="utf-8"?><Relationships xmlns="http://schemas.openxmlformats.org/package/2006/relationships"><Relationship Type="http://schemas.openxmlformats.org/officeDocument/2006/relationships/slide" Target="/ppt/slides/slide7.xml" Id="R0904acda48bc44cc" /><Relationship Type="http://schemas.openxmlformats.org/officeDocument/2006/relationships/notesMaster" Target="/ppt/notesMasters/notesMaster1.xml" Id="Rdfd835ab36154880" /></Relationships>
</file>

<file path=ppt/notesSlides/_rels/notesSlide8.xml.rels>&#65279;<?xml version="1.0" encoding="utf-8"?><Relationships xmlns="http://schemas.openxmlformats.org/package/2006/relationships"><Relationship Type="http://schemas.openxmlformats.org/officeDocument/2006/relationships/slide" Target="/ppt/slides/slide8.xml" Id="R60d09a720ca24b5f" /><Relationship Type="http://schemas.openxmlformats.org/officeDocument/2006/relationships/notesMaster" Target="/ppt/notesMasters/notesMaster1.xml" Id="R5c073924100749e5" /></Relationships>
</file>

<file path=ppt/notesSlides/_rels/notesSlide9.xml.rels>&#65279;<?xml version="1.0" encoding="utf-8"?><Relationships xmlns="http://schemas.openxmlformats.org/package/2006/relationships"><Relationship Type="http://schemas.openxmlformats.org/officeDocument/2006/relationships/slide" Target="/ppt/slides/slide9.xml" Id="R619f26f050e842b2" /><Relationship Type="http://schemas.openxmlformats.org/officeDocument/2006/relationships/notesMaster" Target="/ppt/notesMasters/notesMaster1.xml" Id="R1d68fbf1671845e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a750d71fe7a4c49" /><Relationship Type="http://schemas.openxmlformats.org/officeDocument/2006/relationships/notesMaster" Target="/ppt/notesMasters/notesMaster1.xml" Id="R13de9e3e0eea474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DAUER: 0:20</a:t>
            </a:r>
          </a:p>
          <a:p xmlns:a="http://schemas.openxmlformats.org/drawingml/2006/main">
            <a:r>
              <a:t/>
            </a:r>
          </a:p>
          <a:p xmlns:a="http://schemas.openxmlformats.org/drawingml/2006/main">
            <a:r>
              <a:t>Darian: Wir zeigen Spendly, unsere Ausgaben-App für Lernende und Studierende. Sie sammelt kleine tägliche Ausgaben und zeigt, was vom Monatsbudget übrig bleibt. Wir vergleichen zuerst die Idee mit der fertigen App und zeigen danach die wichtigsten Funktionen direkt am Gerät.</a:t>
            </a:r>
          </a:p>
          <a:p xmlns:a="http://schemas.openxmlformats.org/drawingml/2006/main">
            <a:r>
              <a:t/>
            </a:r>
          </a:p>
          <a:p xmlns:a="http://schemas.openxmlformats.org/drawingml/2006/main">
            <a:r>
              <a:t>QUELLEN</a:t>
            </a:r>
          </a:p>
          <a:p xmlns:a="http://schemas.openxmlformats.org/drawingml/2006/main">
            <a:r>
              <a:t>AnforderungenLB3.pdf, Seiten 3–5, und PRUEFUNG_M335_APPLI-LB3.pdf, Seite 2. Vorgaben des Unterrichts.</a:t>
            </a:r>
          </a:p>
          <a:p xmlns:a="http://schemas.openxmlformats.org/drawingml/2006/main">
            <a:r>
              <a:t>Spendly_LB1.pdf, 24.09.2026, Seiten 1–11. Lokale Abgabe: LB1_Spendly/Spendly_LB1.pdf.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DAUER: 0:45</a:t>
            </a:r>
          </a:p>
          <a:p xmlns:a="http://schemas.openxmlformats.org/drawingml/2006/main">
            <a:r>
              <a:t/>
            </a:r>
          </a:p>
          <a:p xmlns:a="http://schemas.openxmlformats.org/drawingml/2006/main">
            <a:r>
              <a:t>Darian: Unsere Zielgruppe sind Lernende und Studierende in der Schweiz. Wer den ersten Lohn erhält, bezahlt vieles mit Karte, TWINT oder Bargeld. Einzelne Beträge wirken klein. Zusammen belasten sie das Budget. Unsere Aufgabe war deshalb eine einfache, lokale App: Betrag und Kategorie erfassen, den verbleibenden Betrag sehen und einen Eintrag später korrigieren. Die 14 Franken 80 sind unser Beispiel aus dem Konzept. Es gibt kein Benutzerkonto und keine Bankverbindung. Ein kurzer Weg durch die App war ein Designziel. Die geplanten zehn Sekunden für eine Erfassung sind noch keine gemessene Leistung.</a:t>
            </a:r>
          </a:p>
          <a:p xmlns:a="http://schemas.openxmlformats.org/drawingml/2006/main">
            <a:r>
              <a:t/>
            </a:r>
          </a:p>
          <a:p xmlns:a="http://schemas.openxmlformats.org/drawingml/2006/main">
            <a:r>
              <a:t>QUELLEN</a:t>
            </a:r>
          </a:p>
          <a:p xmlns:a="http://schemas.openxmlformats.org/drawingml/2006/main">
            <a:r>
              <a:t>AnforderungenLB3.pdf, Seiten 3–5, und PRUEFUNG_M335_APPLI-LB3.pdf, Seite 2. Vorgaben des Unterrichts.</a:t>
            </a:r>
          </a:p>
          <a:p xmlns:a="http://schemas.openxmlformats.org/drawingml/2006/main">
            <a:r>
              <a:t>Spendly_LB1.pdf, 24.09.2026, Seiten 1–11. Lokale Abgabe: LB1_Spendly/Spendly_LB1.pdf.</a:t>
            </a:r>
          </a:p>
          <a:p xmlns:a="http://schemas.openxmlformats.org/drawingml/2006/main">
            <a:r>
              <a:t>Quellcode: https://github.com/germanndarian/Spendly. Prüfstand 01.10.2026, finale Quelldateien in der LB3-Abgabe.</a:t>
            </a:r>
          </a:p>
          <a:p xmlns:a="http://schemas.openxmlformats.org/drawingml/2006/main">
            <a:r>
              <a:t>Datei: screens/NewExpenseScreen.js</a:t>
            </a:r>
          </a:p>
          <a:p xmlns:a="http://schemas.openxmlformats.org/drawingml/2006/main">
            <a:r>
              <a:t>Datei: utils/validation.js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DAUER: 0:50</a:t>
            </a:r>
          </a:p>
          <a:p xmlns:a="http://schemas.openxmlformats.org/drawingml/2006/main">
            <a:r>
              <a:t/>
            </a:r>
          </a:p>
          <a:p xmlns:a="http://schemas.openxmlformats.org/drawingml/2006/main">
            <a:r>
              <a:t>Darian: Links sehen wir das LB1-Mockup, rechts die aktuelle App. Der verfügbare Betrag bleibt im Vordergrund. Waldgrün, ein warmer Hintergrund und die Serifenschrift bei Beträgen bilden die Identität von Spendly. Übersicht, Verlauf und Einstellungen sind direkt erreichbar. Die Entwicklung verlief in Schritten: zuerst Oberfläche und Navigation, dann Speicherung und Biometrie, danach Fehlerfälle und Tests. Das zeigt auch die Historie im Repository. Für LB3 haben wir den Stand nochmals mit dem Konzept abgeglichen. Die App ergänzt native Bedienung und Dark Mode. Beide Bilder verwenden unterschiedliche Beispieldaten. Sie zeigen den Designvergleich, keinen Zahlenvergleich.</a:t>
            </a:r>
          </a:p>
          <a:p xmlns:a="http://schemas.openxmlformats.org/drawingml/2006/main">
            <a:r>
              <a:t/>
            </a:r>
          </a:p>
          <a:p xmlns:a="http://schemas.openxmlformats.org/drawingml/2006/main">
            <a:r>
              <a:t>QUELLEN</a:t>
            </a:r>
          </a:p>
          <a:p xmlns:a="http://schemas.openxmlformats.org/drawingml/2006/main">
            <a:r>
              <a:t>AnforderungenLB3.pdf, Seiten 3–5, und PRUEFUNG_M335_APPLI-LB3.pdf, Seite 2. Vorgaben des Unterrichts.</a:t>
            </a:r>
          </a:p>
          <a:p xmlns:a="http://schemas.openxmlformats.org/drawingml/2006/main">
            <a:r>
              <a:t>Spendly_LB1.pdf, 24.09.2026, Seiten 1–11. Lokale Abgabe: LB1_Spendly/Spendly_LB1.pdf.</a:t>
            </a:r>
          </a:p>
          <a:p xmlns:a="http://schemas.openxmlformats.org/drawingml/2006/main">
            <a:r>
              <a:t>Quellcode: https://github.com/germanndarian/Spendly. Prüfstand 01.10.2026, finale Quelldateien in der LB3-Abgabe.</a:t>
            </a:r>
          </a:p>
          <a:p xmlns:a="http://schemas.openxmlformats.org/drawingml/2006/main">
            <a:r>
              <a:t>Datei: theme/colors.js</a:t>
            </a:r>
          </a:p>
          <a:p xmlns:a="http://schemas.openxmlformats.org/drawingml/2006/main">
            <a:r>
              <a:t>Datei: theme/typography.js</a:t>
            </a:r>
          </a:p>
          <a:p xmlns:a="http://schemas.openxmlformats.org/drawingml/2006/main">
            <a:r>
              <a:t>Datei: screens/OverviewScreen.js</a:t>
            </a:r>
          </a:p>
          <a:p xmlns:a="http://schemas.openxmlformats.org/drawingml/2006/main">
            <a:r>
              <a:t>Vorgehen belegt durch Git-Commits: 5f4b8f3 (23.09.2026), 958eed7 (24.09.2026), 686081d und 633fb0f (25.09.2026).</a:t>
            </a:r>
          </a:p>
          <a:p xmlns:a="http://schemas.openxmlformats.org/drawingml/2006/main">
            <a:r>
              <a:t>Bild links: LB1_Spendly/Mockups/02-uebersicht.png. Bild rechts: aktuelle Aufnahme in dieser LB3-Abgabe.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DAUER: 2:00</a:t>
            </a:r>
          </a:p>
          <a:p xmlns:a="http://schemas.openxmlformats.org/drawingml/2006/main">
            <a:r>
              <a:t/>
            </a:r>
          </a:p>
          <a:p xmlns:a="http://schemas.openxmlformats.org/drawingml/2006/main">
            <a:r>
              <a:t>Darian zeigt die App, Alex erklärt kurz die Ergebnisse.</a:t>
            </a:r>
          </a:p>
          <a:p xmlns:a="http://schemas.openxmlformats.org/drawingml/2006/main">
            <a:r>
              <a:t/>
            </a:r>
          </a:p>
          <a:p xmlns:a="http://schemas.openxmlformats.org/drawingml/2006/main">
            <a:r>
              <a:t>0:00–0:15: App entsperren. Face ID nur zeigen, wenn der Test am Präsentationsgerät erfolgreich war. Sonst den eingerichteten App-Code verwenden.</a:t>
            </a:r>
          </a:p>
          <a:p xmlns:a="http://schemas.openxmlformats.org/drawingml/2006/main">
            <a:r>
              <a:t>0:15–0:40: Neue Ausgabe erfassen: CHF 14.80, Kategorie Essen &amp; Trinken, Beschreibung «Mittagessen», heutiges Datum. Speichern.</a:t>
            </a:r>
          </a:p>
          <a:p xmlns:a="http://schemas.openxmlformats.org/drawingml/2006/main">
            <a:r>
              <a:t>0:40–0:55: Auf der Übersicht zeigen, dass Restbudget und Tagesbetrag sinken. Der Tagesbetrag verteilt das restliche Budget auf die restlichen Kalendertage inklusive heute.</a:t>
            </a:r>
          </a:p>
          <a:p xmlns:a="http://schemas.openxmlformats.org/drawingml/2006/main">
            <a:r>
              <a:t>0:55–1:15: Im Verlauf «Mittagessen» suchen. Den Betrag auf CHF 12.80 ändern und speichern.</a:t>
            </a:r>
          </a:p>
          <a:p xmlns:a="http://schemas.openxmlformats.org/drawingml/2006/main">
            <a:r>
              <a:t>1:15–1:35: Den Eintrag löschen und mit «Rückgängig» wiederherstellen.</a:t>
            </a:r>
          </a:p>
          <a:p xmlns:a="http://schemas.openxmlformats.org/drawingml/2006/main">
            <a:r>
              <a:t>1:35–2:00: App vollständig schliessen und neu öffnen. Erneut entsperren und denselben Eintrag im Verlauf zeigen. So wird die lokale Speicherung sichtbar.</a:t>
            </a:r>
          </a:p>
          <a:p xmlns:a="http://schemas.openxmlformats.org/drawingml/2006/main">
            <a:r>
              <a:t/>
            </a:r>
          </a:p>
          <a:p xmlns:a="http://schemas.openxmlformats.org/drawingml/2006/main">
            <a:r>
              <a:t>Falls die Vorführung stockt: nach spätestens 15 Sekunden auf die mitgelieferte Aufnahme wechseln. Keine ungetestete Biometrie als erfolgreiche Demonstration ankündigen. Beispieldaten vor dem Vortrag einmal vorbereiten, nach dem Durchlauf wiederherstellen.</a:t>
            </a:r>
          </a:p>
          <a:p xmlns:a="http://schemas.openxmlformats.org/drawingml/2006/main">
            <a:r>
              <a:t/>
            </a:r>
          </a:p>
          <a:p xmlns:a="http://schemas.openxmlformats.org/drawingml/2006/main">
            <a:r>
              <a:t>QUELLEN</a:t>
            </a:r>
          </a:p>
          <a:p xmlns:a="http://schemas.openxmlformats.org/drawingml/2006/main">
            <a:r>
              <a:t>AnforderungenLB3.pdf, Seiten 3–5, und PRUEFUNG_M335_APPLI-LB3.pdf, Seite 2. Vorgaben des Unterrichts.</a:t>
            </a:r>
          </a:p>
          <a:p xmlns:a="http://schemas.openxmlformats.org/drawingml/2006/main">
            <a:r>
              <a:t>Quellcode: https://github.com/germanndarian/Spendly. Prüfstand 01.10.2026, finale Quelldateien in der LB3-Abgabe.</a:t>
            </a:r>
          </a:p>
          <a:p xmlns:a="http://schemas.openxmlformats.org/drawingml/2006/main">
            <a:r>
              <a:t>Datei: screens/NewExpenseScreen.js</a:t>
            </a:r>
          </a:p>
          <a:p xmlns:a="http://schemas.openxmlformats.org/drawingml/2006/main">
            <a:r>
              <a:t>Datei: screens/HistoryScreen.js</a:t>
            </a:r>
          </a:p>
          <a:p xmlns:a="http://schemas.openxmlformats.org/drawingml/2006/main">
            <a:r>
              <a:t>Datei: storage/DataContext.js</a:t>
            </a:r>
          </a:p>
          <a:p xmlns:a="http://schemas.openxmlformats.org/drawingml/2006/main">
            <a:r>
              <a:t>Datei: storage/expenses.js</a:t>
            </a:r>
          </a:p>
          <a:p xmlns:a="http://schemas.openxmlformats.org/drawingml/2006/main">
            <a:r>
              <a:t>Aktueller Nachweis: Eigener iOS-Release-Build: Erstellen, Bearbeiten, Löschen, Rückgängig und Neustart ohne Entwicklungsserver geprüft. Aufnahme liegt bei.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DAUER: 0:55</a:t>
            </a:r>
          </a:p>
          <a:p xmlns:a="http://schemas.openxmlformats.org/drawingml/2006/main">
            <a:r>
              <a:t/>
            </a:r>
          </a:p>
          <a:p xmlns:a="http://schemas.openxmlformats.org/drawingml/2006/main">
            <a:r>
              <a:t>Alex: Die App-Sperre ist unser Smartphone-Feature. Anschaulich ist das Betriebssystem der Türsteher. Spendly fragt, ob die Person das Gerät entsperren darf. Das Gerät prüft Gesicht oder Fingerabdruck, und die App erhält Erfolg oder einen Fehler. Spendly bekommt kein Foto und keinen Fingerabdruck. Wer Biometrie nicht verwenden kann, nutzt einen eigenen sechsstelligen Code. Dessen Prüfwert liegt zusammen mit einem zufälligen Salz in SecureStore. Nach fünf falschen Versuchen folgen 30 Sekunden Wartezeit. Weitere Fehler verlängern die Wartezeit bis auf fünf Minuten. Ein Neustart setzt diese Sperre nicht zurück. Die App-Sperre schützt den Zugang innerhalb der App. Die SQLite-Datei ist dadurch nicht zusätzlich verschlüsselt. Der native Systemdialog und die erfolgreiche Erkennung wurden im Simulator geprüft. Das physische iPhone war für Xcode nicht erreichbar. Ein echter Gesichtsscan ist deshalb noch nicht nachgewiesen.</a:t>
            </a:r>
          </a:p>
          <a:p xmlns:a="http://schemas.openxmlformats.org/drawingml/2006/main">
            <a:r>
              <a:t/>
            </a:r>
          </a:p>
          <a:p xmlns:a="http://schemas.openxmlformats.org/drawingml/2006/main">
            <a:r>
              <a:t>QUELLEN</a:t>
            </a:r>
          </a:p>
          <a:p xmlns:a="http://schemas.openxmlformats.org/drawingml/2006/main">
            <a:r>
              <a:t>AnforderungenLB3.pdf, Seiten 3–5, und PRUEFUNG_M335_APPLI-LB3.pdf, Seite 2. Vorgaben des Unterrichts.</a:t>
            </a:r>
          </a:p>
          <a:p xmlns:a="http://schemas.openxmlformats.org/drawingml/2006/main">
            <a:r>
              <a:t>Expo LocalAuthentication: https://docs.expo.dev/versions/latest/sdk/local-authentication/ (abgerufen 01.10.2026).</a:t>
            </a:r>
          </a:p>
          <a:p xmlns:a="http://schemas.openxmlformats.org/drawingml/2006/main">
            <a:r>
              <a:t>Expo SecureStore: https://docs.expo.dev/versions/latest/sdk/securestore/ (abgerufen 01.10.2026).</a:t>
            </a:r>
          </a:p>
          <a:p xmlns:a="http://schemas.openxmlformats.org/drawingml/2006/main">
            <a:r>
              <a:t>Quellcode: https://github.com/germanndarian/Spendly. Prüfstand 01.10.2026, finale Quelldateien in der LB3-Abgabe.</a:t>
            </a:r>
          </a:p>
          <a:p xmlns:a="http://schemas.openxmlformats.org/drawingml/2006/main">
            <a:r>
              <a:t>Datei: utils/biometrics.js</a:t>
            </a:r>
          </a:p>
          <a:p xmlns:a="http://schemas.openxmlformats.org/drawingml/2006/main">
            <a:r>
              <a:t>Datei: screens/LockScreen.js</a:t>
            </a:r>
          </a:p>
          <a:p xmlns:a="http://schemas.openxmlformats.org/drawingml/2006/main">
            <a:r>
              <a:t>Datei: storage/pin.js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DAUER: 0:55</a:t>
            </a:r>
          </a:p>
          <a:p xmlns:a="http://schemas.openxmlformats.org/drawingml/2006/main">
            <a:r>
              <a:t/>
            </a:r>
          </a:p>
          <a:p xmlns:a="http://schemas.openxmlformats.org/drawingml/2006/main">
            <a:r>
              <a:t>Alex: Die App trennt Bedienung, Berechnungen und Speicherung. Das Formular prüft zuerst den Betrag und die übrigen Felder. Nur gültige Eingaben gehen an den gemeinsamen DataContext. Dieser ruft die Speicherfunktionen auf. In SQLite steht jede Ausgabe als Datensatz mit ID, Betrag, Kategorie, Beschreibung und Datum. Geld speichern wir als ganze Rappen. 14 Franken 80 sind die ganze Zahl 1480. Das verhindert typische Ungenauigkeiten mit Dezimalzahlen. Danach aktualisiert der Context die Daten, und die Übersicht berechnet das Budget neu. Reine Funktionen lassen sich unabhängig von der Oberfläche testen. Kommentare erklären etwa die Rappenrechnung und gebundene SQL-Parameter.</a:t>
            </a:r>
          </a:p>
          <a:p xmlns:a="http://schemas.openxmlformats.org/drawingml/2006/main">
            <a:r>
              <a:t/>
            </a:r>
          </a:p>
          <a:p xmlns:a="http://schemas.openxmlformats.org/drawingml/2006/main">
            <a:r>
              <a:t>QUELLEN</a:t>
            </a:r>
          </a:p>
          <a:p xmlns:a="http://schemas.openxmlformats.org/drawingml/2006/main">
            <a:r>
              <a:t>AnforderungenLB3.pdf, Seiten 3–5, und PRUEFUNG_M335_APPLI-LB3.pdf, Seite 2. Vorgaben des Unterrichts.</a:t>
            </a:r>
          </a:p>
          <a:p xmlns:a="http://schemas.openxmlformats.org/drawingml/2006/main">
            <a:r>
              <a:t>Expo SQLite: https://docs.expo.dev/versions/latest/sdk/sqlite/ (abgerufen 01.10.2026).</a:t>
            </a:r>
          </a:p>
          <a:p xmlns:a="http://schemas.openxmlformats.org/drawingml/2006/main">
            <a:r>
              <a:t>Quellcode: https://github.com/germanndarian/Spendly. Prüfstand 01.10.2026, finale Quelldateien in der LB3-Abgabe.</a:t>
            </a:r>
          </a:p>
          <a:p xmlns:a="http://schemas.openxmlformats.org/drawingml/2006/main">
            <a:r>
              <a:t>Datei: screens/NewExpenseScreen.js</a:t>
            </a:r>
          </a:p>
          <a:p xmlns:a="http://schemas.openxmlformats.org/drawingml/2006/main">
            <a:r>
              <a:t>Datei: utils/validation.js</a:t>
            </a:r>
          </a:p>
          <a:p xmlns:a="http://schemas.openxmlformats.org/drawingml/2006/main">
            <a:r>
              <a:t>Datei: storage/DataContext.js</a:t>
            </a:r>
          </a:p>
          <a:p xmlns:a="http://schemas.openxmlformats.org/drawingml/2006/main">
            <a:r>
              <a:t>Datei: storage/expenses.js</a:t>
            </a:r>
          </a:p>
          <a:p xmlns:a="http://schemas.openxmlformats.org/drawingml/2006/main">
            <a:r>
              <a:t>Datei: storage/db.js</a:t>
            </a:r>
          </a:p>
          <a:p xmlns:a="http://schemas.openxmlformats.org/drawingml/2006/main">
            <a:r>
              <a:t>Datei: screens/OverviewScreen.js</a:t>
            </a:r>
          </a:p>
          <a:p xmlns:a="http://schemas.openxmlformats.org/drawingml/2006/main">
            <a:r>
              <a:t>Datei: utils/budget.js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DAUER: 0:50</a:t>
            </a:r>
          </a:p>
          <a:p xmlns:a="http://schemas.openxmlformats.org/drawingml/2006/main">
            <a:r>
              <a:t/>
            </a:r>
          </a:p>
          <a:p xmlns:a="http://schemas.openxmlformats.org/drawingml/2006/main">
            <a:r>
              <a:t>Alex: Das finale Konzept war unsere Ausgangsbasis. Die lokale SQLite-Datenbank und ganze Rappen entsprechen bereits der Planung aus LB1. Monatsbudgets bleiben getrennt. Ein Standardbudget gilt für neue Monate. Auch die fünf Sekunden lange Löschfrist liegt dauerhaft in SQLite. Dark Mode erweitert den Mindestumfang. Eine Abweichung bleibt beim Code-Prüfwert: Die App nutzt SHA-256 mit Salt und SecureStore, keine spezielle langsame Passwortableitung. Das ist bewusst als Vereinfachung dokumentiert. Zusätzliche Funktionen wie Cloud-Synchronisierung oder Bankimport bleiben ausserhalb des Projekts. Der genaue Vergleich und die Abweichungen stehen in der technischen Dokumentation.</a:t>
            </a:r>
          </a:p>
          <a:p xmlns:a="http://schemas.openxmlformats.org/drawingml/2006/main">
            <a:r>
              <a:t/>
            </a:r>
          </a:p>
          <a:p xmlns:a="http://schemas.openxmlformats.org/drawingml/2006/main">
            <a:r>
              <a:t>QUELLEN</a:t>
            </a:r>
          </a:p>
          <a:p xmlns:a="http://schemas.openxmlformats.org/drawingml/2006/main">
            <a:r>
              <a:t>AnforderungenLB3.pdf, Seiten 3–5, und PRUEFUNG_M335_APPLI-LB3.pdf, Seite 2. Vorgaben des Unterrichts.</a:t>
            </a:r>
          </a:p>
          <a:p xmlns:a="http://schemas.openxmlformats.org/drawingml/2006/main">
            <a:r>
              <a:t>Spendly_LB1.pdf, 24.09.2026, Seiten 1–11. Lokale Abgabe: LB1_Spendly/Spendly_LB1.pdf.</a:t>
            </a:r>
          </a:p>
          <a:p xmlns:a="http://schemas.openxmlformats.org/drawingml/2006/main">
            <a:r>
              <a:t>Quellcode: https://github.com/germanndarian/Spendly. Prüfstand 01.10.2026, finale Quelldateien in der LB3-Abgabe.</a:t>
            </a:r>
          </a:p>
          <a:p xmlns:a="http://schemas.openxmlformats.org/drawingml/2006/main">
            <a:r>
              <a:t>Datei: storage/db.js</a:t>
            </a:r>
          </a:p>
          <a:p xmlns:a="http://schemas.openxmlformats.org/drawingml/2006/main">
            <a:r>
              <a:t>Datei: storage/settings.js</a:t>
            </a:r>
          </a:p>
          <a:p xmlns:a="http://schemas.openxmlformats.org/drawingml/2006/main">
            <a:r>
              <a:t>Datei: storage/pin.js</a:t>
            </a:r>
          </a:p>
          <a:p xmlns:a="http://schemas.openxmlformats.org/drawingml/2006/main">
            <a:r>
              <a:t>Datei: storage/DataContext.js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DAUER: 0:45</a:t>
            </a:r>
          </a:p>
          <a:p xmlns:a="http://schemas.openxmlformats.org/drawingml/2006/main">
            <a:r>
              <a:t/>
            </a:r>
          </a:p>
          <a:p xmlns:a="http://schemas.openxmlformats.org/drawingml/2006/main">
            <a:r>
              <a:t>Alex: Der aktuelle Prüflauf umfasst 91 bestandene automatisierte Tests. Neun Testsuiten prüfen unter anderem Berechnungen, Validierung, Code-Sperren und die SQLite-Speicherung. Die Datenbanktests nutzen eine echte SQLite-Engine. Zwei Tests prüfen den tatsächlichen Ablauf bei vergessenem Code mit aktivierter und deaktivierter Biometrie. ESLint ist ebenfalls ohne Fehler durchgelaufen. Zusätzlich prüfen wir die App als Ablauf: erstellen, verändern, löschen, zurückholen und nach einem Neustart wiederfinden. Der vollständige Ablauf funktionierte im eigenen iOS-Release-Build im Simulator, auch nach dem Stoppen des Entwicklungsservers. Historische Budgets und dunkle Darstellung wurden zusätzlich geprüft. Der native Face-ID-Systemdialog konnte mit einer simulierten passenden Erkennung entsperren. Der physische Gesichtsscan bleibt offen. Ein Unit-Test beweist keinen erfolgreichen Face-ID-Vorgang. Deshalb unterscheiden wir diese Nachweise. Einen Nutzertest mit der Zielgruppe und eine gemessene Erfassungszeit haben wir noch nicht durchgeführt.</a:t>
            </a:r>
          </a:p>
          <a:p xmlns:a="http://schemas.openxmlformats.org/drawingml/2006/main">
            <a:r>
              <a:t/>
            </a:r>
          </a:p>
          <a:p xmlns:a="http://schemas.openxmlformats.org/drawingml/2006/main">
            <a:r>
              <a:t>QUELLEN</a:t>
            </a:r>
          </a:p>
          <a:p xmlns:a="http://schemas.openxmlformats.org/drawingml/2006/main">
            <a:r>
              <a:t>AnforderungenLB3.pdf, Seiten 3–5, und PRUEFUNG_M335_APPLI-LB3.pdf, Seite 2. Vorgaben des Unterrichts.</a:t>
            </a:r>
          </a:p>
          <a:p xmlns:a="http://schemas.openxmlformats.org/drawingml/2006/main">
            <a:r>
              <a:t>Quellcode: https://github.com/germanndarian/Spendly. Prüfstand 01.10.2026, finale Quelldateien in der LB3-Abgabe.</a:t>
            </a:r>
          </a:p>
          <a:p xmlns:a="http://schemas.openxmlformats.org/drawingml/2006/main">
            <a:r>
              <a:t>Datei: utils/__tests__/</a:t>
            </a:r>
          </a:p>
          <a:p xmlns:a="http://schemas.openxmlformats.org/drawingml/2006/main">
            <a:r>
              <a:t>Datei: storage/__tests__/</a:t>
            </a:r>
          </a:p>
          <a:p xmlns:a="http://schemas.openxmlformats.org/drawingml/2006/main">
            <a:r>
              <a:t>Datei: screens/__tests__/LockScreen.test.js</a:t>
            </a:r>
          </a:p>
          <a:p xmlns:a="http://schemas.openxmlformats.org/drawingml/2006/main">
            <a:r>
              <a:t>Prüfprotokoll: 01.10.2026: 91/91 Tests in9Suiten, ESLint und Diff-Prüfung erfolgreich. Native Release-Builds für iOS-Simulator und iPhone erfolgreich. Simulatorablauf und simulierte Face ID im technischen Testprotokoll; echte Geräteerkennung offen.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DAUER: 0:50</a:t>
            </a:r>
          </a:p>
          <a:p xmlns:a="http://schemas.openxmlformats.org/drawingml/2006/main">
            <a:r>
              <a:t/>
            </a:r>
          </a:p>
          <a:p xmlns:a="http://schemas.openxmlformats.org/drawingml/2006/main">
            <a:r>
              <a:t>Darian: Zwei Stellen zeigen, warum eine fertige App mehr braucht als den normalen Erfolgsfall. Ein einzelner globaler Budgetwert würde alte Monate beim Ändern verfälschen. Deshalb speichert die App Monatswerte getrennt und hält das Standardbudget zusätzlich fest. Auch ein Neustart darf die Sperrzeit nach falschen Codes nicht zurücksetzen. Dafür speichert SecureStore die Fehlversuche und den Sperrzeitpunkt. Beim Schliessen eines veränderten Formulars fragt die App vor dem Verwerfen nach. Die Folgerung ist für uns technisch klar: Jede wichtige Aktion braucht einen definierten Zustand vor der Änderung, ein Ergebnis bei Erfolg und eine verständliche Reaktion bei einem Fehler. Sonst können Oberfläche und gespeicherte Daten auseinanderlaufen.</a:t>
            </a:r>
          </a:p>
          <a:p xmlns:a="http://schemas.openxmlformats.org/drawingml/2006/main">
            <a:r>
              <a:t/>
            </a:r>
          </a:p>
          <a:p xmlns:a="http://schemas.openxmlformats.org/drawingml/2006/main">
            <a:r>
              <a:t>QUELLEN</a:t>
            </a:r>
          </a:p>
          <a:p xmlns:a="http://schemas.openxmlformats.org/drawingml/2006/main">
            <a:r>
              <a:t>AnforderungenLB3.pdf, Seiten 3–5, und PRUEFUNG_M335_APPLI-LB3.pdf, Seite 2. Vorgaben des Unterrichts.</a:t>
            </a:r>
          </a:p>
          <a:p xmlns:a="http://schemas.openxmlformats.org/drawingml/2006/main">
            <a:r>
              <a:t>Quellcode: https://github.com/germanndarian/Spendly. Prüfstand 01.10.2026, finale Quelldateien in der LB3-Abgabe.</a:t>
            </a:r>
          </a:p>
          <a:p xmlns:a="http://schemas.openxmlformats.org/drawingml/2006/main">
            <a:r>
              <a:t>Datei: storage/settings.js</a:t>
            </a:r>
          </a:p>
          <a:p xmlns:a="http://schemas.openxmlformats.org/drawingml/2006/main">
            <a:r>
              <a:t>Datei: storage/pin.js</a:t>
            </a:r>
          </a:p>
          <a:p xmlns:a="http://schemas.openxmlformats.org/drawingml/2006/main">
            <a:r>
              <a:t>Datei: screens/NewExpenseScreen.js</a:t>
            </a:r>
          </a:p>
          <a:p xmlns:a="http://schemas.openxmlformats.org/drawingml/2006/main">
            <a:r>
              <a:t>Datei: storage/DataContext.js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DAUER: 0:45</a:t>
            </a:r>
          </a:p>
          <a:p xmlns:a="http://schemas.openxmlformats.org/drawingml/2006/main">
            <a:r>
              <a:t/>
            </a:r>
          </a:p>
          <a:p xmlns:a="http://schemas.openxmlformats.org/drawingml/2006/main">
            <a:r>
              <a:t>Darian: Spendly setzt die Kernidee aus LB1 um: tägliche Ausgaben erfassen und das verfügbare Monatsbudget verständlich zeigen. Die wichtigste technische Lehre ist, Fehlerfälle früher genauso konkret zu planen wie den normalen Ablauf. Dazu gehören falsche Codes, abgebrochene Formulare und ein Neustart während einer Aktion. Als Nächstes würden wir die App mit Lernenden testen. Verstehen sie den Tagesbetrag? Finden sie die Korrektur eines Eintrags? Und gelingt die Erfassung tatsächlich in der geplanten kurzen Zeit? Erst mit diesen Beobachtungen lässt sich die Bedienung gezielt weiterentwickeln. Damit sind wir am Ende und beantworten gerne Fragen.</a:t>
            </a:r>
          </a:p>
          <a:p xmlns:a="http://schemas.openxmlformats.org/drawingml/2006/main">
            <a:r>
              <a:t/>
            </a:r>
          </a:p>
          <a:p xmlns:a="http://schemas.openxmlformats.org/drawingml/2006/main">
            <a:r>
              <a:t>QUELLEN</a:t>
            </a:r>
          </a:p>
          <a:p xmlns:a="http://schemas.openxmlformats.org/drawingml/2006/main">
            <a:r>
              <a:t>AnforderungenLB3.pdf, Seiten 3–5, und PRUEFUNG_M335_APPLI-LB3.pdf, Seite 2. Vorgaben des Unterrichts.</a:t>
            </a:r>
          </a:p>
          <a:p xmlns:a="http://schemas.openxmlformats.org/drawingml/2006/main">
            <a:r>
              <a:t>Spendly_LB1.pdf, 24.09.2026, Seiten 1–11. Lokale Abgabe: LB1_Spendly/Spendly_LB1.pdf.</a:t>
            </a:r>
          </a:p>
          <a:p xmlns:a="http://schemas.openxmlformats.org/drawingml/2006/main">
            <a:r>
              <a:t>Quellcode: https://github.com/germanndarian/Spendly. Prüfstand 01.10.2026, finale Quelldateien in der LB3-Abgabe.</a:t>
            </a:r>
          </a:p>
          <a:p xmlns:a="http://schemas.openxmlformats.org/drawingml/2006/main">
            <a:r>
              <a:t>Datei: screens/NewExpenseScreen.js</a:t>
            </a:r>
          </a:p>
          <a:p xmlns:a="http://schemas.openxmlformats.org/drawingml/2006/main">
            <a:r>
              <a:t>Datei: screens/LockScreen.js</a:t>
            </a:r>
          </a:p>
          <a:p xmlns:a="http://schemas.openxmlformats.org/drawingml/2006/main">
            <a:r>
              <a:t>Datei: storage/DataContext.js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c075706f607467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a0bac8a8d0443aa" /><Relationship Type="http://schemas.openxmlformats.org/officeDocument/2006/relationships/slideLayout" Target="/ppt/slideLayouts/slideLayout1.xml" Id="R0f98ca21fe7b4ba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f98ca21fe7b4ba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18eed7574c54c14" /><Relationship Type="http://schemas.openxmlformats.org/officeDocument/2006/relationships/notesSlide" Target="/ppt/notesSlides/notesSlide1.xml" Id="Rb7c7dc69036d44d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956f4b266ed40bd" /><Relationship Type="http://schemas.openxmlformats.org/officeDocument/2006/relationships/image" Target="/ppt/media/image.png" Id="Rf5e07adff08f4cc3" /><Relationship Type="http://schemas.openxmlformats.org/officeDocument/2006/relationships/notesSlide" Target="/ppt/notesSlides/notesSlide2.xml" Id="R890c57b3265e42a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41623cd7b14489a" /><Relationship Type="http://schemas.openxmlformats.org/officeDocument/2006/relationships/image" Target="/ppt/media/image2.png" Id="Rf9705ec11896454b" /><Relationship Type="http://schemas.openxmlformats.org/officeDocument/2006/relationships/image" Target="/ppt/media/image3.png" Id="R4a626e0c26324f0e" /><Relationship Type="http://schemas.openxmlformats.org/officeDocument/2006/relationships/notesSlide" Target="/ppt/notesSlides/notesSlide3.xml" Id="R40f192e9f9c64e8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e7ff2f476674fd7" /><Relationship Type="http://schemas.openxmlformats.org/officeDocument/2006/relationships/image" Target="/ppt/media/image4.png" Id="R6e959dc4f8304831" /><Relationship Type="http://schemas.openxmlformats.org/officeDocument/2006/relationships/notesSlide" Target="/ppt/notesSlides/notesSlide4.xml" Id="R4ece47d07b3f4c9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52af736c3b843bd" /><Relationship Type="http://schemas.openxmlformats.org/officeDocument/2006/relationships/image" Target="/ppt/media/image5.png" Id="R06270efb88894c9d" /><Relationship Type="http://schemas.openxmlformats.org/officeDocument/2006/relationships/notesSlide" Target="/ppt/notesSlides/notesSlide5.xml" Id="R9b407ebe39584b8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0e3957f80f44cc7" /><Relationship Type="http://schemas.openxmlformats.org/officeDocument/2006/relationships/notesSlide" Target="/ppt/notesSlides/notesSlide6.xml" Id="R92cc8bbf1cd34f0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903df8ee55340fe" /><Relationship Type="http://schemas.openxmlformats.org/officeDocument/2006/relationships/notesSlide" Target="/ppt/notesSlides/notesSlide7.xml" Id="R15d3c75c903e4db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72032a325b74873" /><Relationship Type="http://schemas.openxmlformats.org/officeDocument/2006/relationships/notesSlide" Target="/ppt/notesSlides/notesSlide8.xml" Id="R306b707b02fd49d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83ac39038e7418d" /><Relationship Type="http://schemas.openxmlformats.org/officeDocument/2006/relationships/image" Target="/ppt/media/image6.png" Id="R4b2356b8348344ad" /><Relationship Type="http://schemas.openxmlformats.org/officeDocument/2006/relationships/notesSlide" Target="/ppt/notesSlides/notesSlide9.xml" Id="Re1c5fdc4dc254d4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a7b12b3eaad4d49" /><Relationship Type="http://schemas.openxmlformats.org/officeDocument/2006/relationships/notesSlide" Target="/ppt/notesSlides/notesSlide10.xml" Id="Rcdc9356dbe6c4bd6" /></Relationships>
</file>

<file path=ppt/slides/slide1.xml><?xml version="1.0" encoding="utf-8"?>
<p:sld xmlns:p="http://schemas.openxmlformats.org/presentationml/2006/main">
  <p:cSld>
    <p:bg>
      <p:bgPr>
        <a:solidFill xmlns:a="http://schemas.openxmlformats.org/drawingml/2006/main">
          <a:srgbClr val="1F5A4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36AC718-2004-4D91-98A3-10DA846CDCBC}"/>
              </a:ext>
            </a:extLst>
          </p:cNvPr>
          <p:cNvSpPr>
            <a:spLocks xmlns:a="http://schemas.openxmlformats.org/drawingml/2006/main" noGrp="1"/>
          </p:cNvSpPr>
          <p:nvPr/>
        </p:nvSpPr>
        <p:spPr>
          <a:xfrm xmlns:a="http://schemas.openxmlformats.org/drawingml/2006/main">
            <a:off x="11334750" y="6296025"/>
            <a:ext cx="3333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DCEBE2"/>
                </a:solidFill>
                <a:latin typeface="Inter"/>
                <a:ea typeface="Inter"/>
                <a:cs typeface="Inter"/>
              </a:defRPr>
            </a:pPr>
            <a:r>
              <a:rPr sz="1275" b="0">
                <a:solidFill>
                  <a:srgbClr val="DCEBE2"/>
                </a:solidFill>
                <a:latin typeface="Inter"/>
                <a:ea typeface="Inter"/>
                <a:cs typeface="Inter"/>
              </a:rPr>
              <a:t>1</a:t>
            </a:r>
          </a:p>
        </p:txBody>
      </p:sp>
      <p:sp>
        <p:nvSpPr>
          <p:cNvPr id="2" name="">
            <a:extLst xmlns:a="http://schemas.openxmlformats.org/drawingml/2006/main">
              <a:ext uri="{FF2B5EF4-FFF2-40B4-BE49-F238E27FC236}">
                <a16:creationId xmlns:a16="http://schemas.microsoft.com/office/drawing/2014/main" id="{2AE00056-D5F7-4ACE-A075-3BB5D9390044}"/>
              </a:ext>
            </a:extLst>
          </p:cNvPr>
          <p:cNvSpPr>
            <a:spLocks xmlns:a="http://schemas.openxmlformats.org/drawingml/2006/main" noGrp="1"/>
          </p:cNvSpPr>
          <p:nvPr/>
        </p:nvSpPr>
        <p:spPr>
          <a:xfrm xmlns:a="http://schemas.openxmlformats.org/drawingml/2006/main">
            <a:off x="609600" y="1381125"/>
            <a:ext cx="10906125"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650" b="0">
                <a:solidFill>
                  <a:srgbClr val="F6F5F1"/>
                </a:solidFill>
                <a:latin typeface="Newsreader"/>
                <a:ea typeface="Newsreader"/>
                <a:cs typeface="Newsreader"/>
              </a:defRPr>
            </a:pPr>
            <a:r>
              <a:rPr sz="10650" b="0">
                <a:solidFill>
                  <a:srgbClr val="F6F5F1"/>
                </a:solidFill>
                <a:latin typeface="Newsreader"/>
                <a:ea typeface="Newsreader"/>
                <a:cs typeface="Newsreader"/>
              </a:rPr>
              <a:t>spendly.</a:t>
            </a:r>
          </a:p>
        </p:txBody>
      </p:sp>
      <p:sp>
        <p:nvSpPr>
          <p:cNvPr id="3" name="">
            <a:extLst xmlns:a="http://schemas.openxmlformats.org/drawingml/2006/main">
              <a:ext uri="{FF2B5EF4-FFF2-40B4-BE49-F238E27FC236}">
                <a16:creationId xmlns:a16="http://schemas.microsoft.com/office/drawing/2014/main" id="{F7E8A34E-8F71-49D7-B4DA-EA74094015AA}"/>
              </a:ext>
            </a:extLst>
          </p:cNvPr>
          <p:cNvSpPr>
            <a:spLocks xmlns:a="http://schemas.openxmlformats.org/drawingml/2006/main" noGrp="1"/>
          </p:cNvSpPr>
          <p:nvPr/>
        </p:nvSpPr>
        <p:spPr>
          <a:xfrm xmlns:a="http://schemas.openxmlformats.org/drawingml/2006/main">
            <a:off x="666750" y="3276600"/>
            <a:ext cx="9334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F6F5F1"/>
                </a:solidFill>
                <a:latin typeface="Inter"/>
                <a:ea typeface="Inter"/>
                <a:cs typeface="Inter"/>
              </a:defRPr>
            </a:pPr>
            <a:r>
              <a:rPr sz="2850" b="0">
                <a:solidFill>
                  <a:srgbClr val="F6F5F1"/>
                </a:solidFill>
                <a:latin typeface="Inter"/>
                <a:ea typeface="Inter"/>
                <a:cs typeface="Inter"/>
              </a:rPr>
              <a:t>Ausgaben und Monatsbudget</a:t>
            </a:r>
          </a:p>
        </p:txBody>
      </p:sp>
      <p:sp>
        <p:nvSpPr>
          <p:cNvPr id="4" name="">
            <a:extLst xmlns:a="http://schemas.openxmlformats.org/drawingml/2006/main">
              <a:ext uri="{FF2B5EF4-FFF2-40B4-BE49-F238E27FC236}">
                <a16:creationId xmlns:a16="http://schemas.microsoft.com/office/drawing/2014/main" id="{6A4D56D4-4668-4C7B-97BF-F99E863DFC50}"/>
              </a:ext>
            </a:extLst>
          </p:cNvPr>
          <p:cNvSpPr>
            <a:spLocks xmlns:a="http://schemas.openxmlformats.org/drawingml/2006/main" noGrp="1"/>
          </p:cNvSpPr>
          <p:nvPr/>
        </p:nvSpPr>
        <p:spPr>
          <a:xfrm xmlns:a="http://schemas.openxmlformats.org/drawingml/2006/main">
            <a:off x="666750" y="5219700"/>
            <a:ext cx="6000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DCEBE2"/>
                </a:solidFill>
                <a:latin typeface="Inter"/>
                <a:ea typeface="Inter"/>
                <a:cs typeface="Inter"/>
              </a:defRPr>
            </a:pPr>
            <a:r>
              <a:rPr sz="1950" b="0">
                <a:solidFill>
                  <a:srgbClr val="DCEBE2"/>
                </a:solidFill>
                <a:latin typeface="Inter"/>
                <a:ea typeface="Inter"/>
                <a:cs typeface="Inter"/>
              </a:rPr>
              <a:t>Darian Germann</a:t>
            </a:r>
          </a:p>
          <a:p xmlns:a="http://schemas.openxmlformats.org/drawingml/2006/main">
            <a:pPr algn="l">
              <a:defRPr sz="1950" b="0">
                <a:solidFill>
                  <a:srgbClr val="DCEBE2"/>
                </a:solidFill>
                <a:latin typeface="Inter"/>
                <a:ea typeface="Inter"/>
                <a:cs typeface="Inter"/>
              </a:defRPr>
            </a:pPr>
            <a:r>
              <a:rPr sz="1950" b="0">
                <a:solidFill>
                  <a:srgbClr val="DCEBE2"/>
                </a:solidFill>
                <a:latin typeface="Inter"/>
                <a:ea typeface="Inter"/>
                <a:cs typeface="Inter"/>
              </a:rPr>
              <a:t>Alex Platret</a:t>
            </a:r>
          </a:p>
        </p:txBody>
      </p:sp>
      <p:sp>
        <p:nvSpPr>
          <p:cNvPr id="5" name="">
            <a:extLst xmlns:a="http://schemas.openxmlformats.org/drawingml/2006/main">
              <a:ext uri="{FF2B5EF4-FFF2-40B4-BE49-F238E27FC236}">
                <a16:creationId xmlns:a16="http://schemas.microsoft.com/office/drawing/2014/main" id="{7FD7A784-F78D-4FC1-A37A-86055CC325E4}"/>
              </a:ext>
            </a:extLst>
          </p:cNvPr>
          <p:cNvSpPr>
            <a:spLocks xmlns:a="http://schemas.openxmlformats.org/drawingml/2006/main" noGrp="1"/>
          </p:cNvSpPr>
          <p:nvPr/>
        </p:nvSpPr>
        <p:spPr>
          <a:xfrm xmlns:a="http://schemas.openxmlformats.org/drawingml/2006/main">
            <a:off x="7810500" y="5219700"/>
            <a:ext cx="37433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725" b="0">
                <a:solidFill>
                  <a:srgbClr val="DCEBE2"/>
                </a:solidFill>
                <a:latin typeface="Inter"/>
                <a:ea typeface="Inter"/>
                <a:cs typeface="Inter"/>
              </a:defRPr>
            </a:pPr>
            <a:r>
              <a:rPr sz="1725" b="0">
                <a:solidFill>
                  <a:srgbClr val="DCEBE2"/>
                </a:solidFill>
                <a:latin typeface="Inter"/>
                <a:ea typeface="Inter"/>
                <a:cs typeface="Inter"/>
              </a:rPr>
              <a:t>LB3  /  Modul 335</a:t>
            </a:r>
          </a:p>
          <a:p xmlns:a="http://schemas.openxmlformats.org/drawingml/2006/main">
            <a:pPr algn="r">
              <a:defRPr sz="1725" b="0">
                <a:solidFill>
                  <a:srgbClr val="DCEBE2"/>
                </a:solidFill>
                <a:latin typeface="Inter"/>
                <a:ea typeface="Inter"/>
                <a:cs typeface="Inter"/>
              </a:defRPr>
            </a:pPr>
            <a:r>
              <a:rPr sz="1725" b="0">
                <a:solidFill>
                  <a:srgbClr val="DCEBE2"/>
                </a:solidFill>
                <a:latin typeface="Inter"/>
                <a:ea typeface="Inter"/>
                <a:cs typeface="Inter"/>
              </a:rPr>
              <a:t>1. Oktober 2026</a:t>
            </a:r>
          </a:p>
        </p:txBody>
      </p:sp>
    </p:spTree>
    <p:extLst>
      <p:ext uri="{BB962C8B-B14F-4D97-AF65-F5344CB8AC3E}">
        <p14:creationId xmlns:p14="http://schemas.microsoft.com/office/powerpoint/2010/main" val="254823485"/>
      </p:ext>
    </p:extLst>
  </p:cSld>
</p:sld>
</file>

<file path=ppt/slides/slide2.xml><?xml version="1.0" encoding="utf-8"?>
<p:sld xmlns:p="http://schemas.openxmlformats.org/presentationml/2006/main">
  <p:cSld>
    <p:bg>
      <p:bgPr>
        <a:solidFill xmlns:a="http://schemas.openxmlformats.org/drawingml/2006/main">
          <a:srgbClr val="F6F5F1"/>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7405619-96D0-43A1-B3C8-8F302AC85B37}"/>
              </a:ext>
            </a:extLst>
          </p:cNvPr>
          <p:cNvSpPr>
            <a:spLocks xmlns:a="http://schemas.openxmlformats.org/drawingml/2006/main" noGrp="1"/>
          </p:cNvSpPr>
          <p:nvPr/>
        </p:nvSpPr>
        <p:spPr>
          <a:xfrm xmlns:a="http://schemas.openxmlformats.org/drawingml/2006/main">
            <a:off x="11334750" y="6296025"/>
            <a:ext cx="3333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6E6D68"/>
                </a:solidFill>
                <a:latin typeface="Inter"/>
                <a:ea typeface="Inter"/>
                <a:cs typeface="Inter"/>
              </a:defRPr>
            </a:pPr>
            <a:r>
              <a:rPr sz="1275" b="0">
                <a:solidFill>
                  <a:srgbClr val="6E6D68"/>
                </a:solidFill>
                <a:latin typeface="Inter"/>
                <a:ea typeface="Inter"/>
                <a:cs typeface="Inter"/>
              </a:rPr>
              <a:t>2</a:t>
            </a:r>
          </a:p>
        </p:txBody>
      </p:sp>
      <p:sp>
        <p:nvSpPr>
          <p:cNvPr id="2" name="">
            <a:extLst xmlns:a="http://schemas.openxmlformats.org/drawingml/2006/main">
              <a:ext uri="{FF2B5EF4-FFF2-40B4-BE49-F238E27FC236}">
                <a16:creationId xmlns:a16="http://schemas.microsoft.com/office/drawing/2014/main" id="{4573AFCD-DC73-4FC4-96DE-3C42C5BA54C5}"/>
              </a:ext>
            </a:extLst>
          </p:cNvPr>
          <p:cNvSpPr>
            <a:spLocks xmlns:a="http://schemas.openxmlformats.org/drawingml/2006/main" noGrp="1"/>
          </p:cNvSpPr>
          <p:nvPr/>
        </p:nvSpPr>
        <p:spPr>
          <a:xfrm xmlns:a="http://schemas.openxmlformats.org/drawingml/2006/main">
            <a:off x="609600" y="476250"/>
            <a:ext cx="10934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75" b="0">
                <a:solidFill>
                  <a:srgbClr val="15171A"/>
                </a:solidFill>
                <a:latin typeface="Newsreader"/>
                <a:ea typeface="Newsreader"/>
                <a:cs typeface="Newsreader"/>
              </a:defRPr>
            </a:pPr>
            <a:r>
              <a:rPr sz="3975" b="0">
                <a:solidFill>
                  <a:srgbClr val="15171A"/>
                </a:solidFill>
                <a:latin typeface="Newsreader"/>
                <a:ea typeface="Newsreader"/>
                <a:cs typeface="Newsreader"/>
              </a:rPr>
              <a:t>Ausgaben im Alltag</a:t>
            </a:r>
          </a:p>
        </p:txBody>
      </p:sp>
      <p:sp>
        <p:nvSpPr>
          <p:cNvPr id="3" name="">
            <a:extLst xmlns:a="http://schemas.openxmlformats.org/drawingml/2006/main">
              <a:ext uri="{FF2B5EF4-FFF2-40B4-BE49-F238E27FC236}">
                <a16:creationId xmlns:a16="http://schemas.microsoft.com/office/drawing/2014/main" id="{841939FE-9098-4B90-BE51-286E0474BAF2}"/>
              </a:ext>
            </a:extLst>
          </p:cNvPr>
          <p:cNvSpPr>
            <a:spLocks xmlns:a="http://schemas.openxmlformats.org/drawingml/2006/main" noGrp="1"/>
          </p:cNvSpPr>
          <p:nvPr/>
        </p:nvSpPr>
        <p:spPr>
          <a:xfrm xmlns:a="http://schemas.openxmlformats.org/drawingml/2006/main">
            <a:off x="609600" y="1619250"/>
            <a:ext cx="6667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600" b="0">
                <a:solidFill>
                  <a:srgbClr val="1F5A45"/>
                </a:solidFill>
                <a:latin typeface="Newsreader"/>
                <a:ea typeface="Newsreader"/>
                <a:cs typeface="Newsreader"/>
              </a:defRPr>
            </a:pPr>
            <a:r>
              <a:rPr sz="6600" b="0">
                <a:solidFill>
                  <a:srgbClr val="1F5A45"/>
                </a:solidFill>
                <a:latin typeface="Newsreader"/>
                <a:ea typeface="Newsreader"/>
                <a:cs typeface="Newsreader"/>
              </a:rPr>
              <a:t>CHF 14.80</a:t>
            </a:r>
          </a:p>
        </p:txBody>
      </p:sp>
      <p:sp>
        <p:nvSpPr>
          <p:cNvPr id="4" name="">
            <a:extLst xmlns:a="http://schemas.openxmlformats.org/drawingml/2006/main">
              <a:ext uri="{FF2B5EF4-FFF2-40B4-BE49-F238E27FC236}">
                <a16:creationId xmlns:a16="http://schemas.microsoft.com/office/drawing/2014/main" id="{96295501-FA66-48FA-92D6-DB19113433AD}"/>
              </a:ext>
            </a:extLst>
          </p:cNvPr>
          <p:cNvSpPr>
            <a:spLocks xmlns:a="http://schemas.openxmlformats.org/drawingml/2006/main" noGrp="1"/>
          </p:cNvSpPr>
          <p:nvPr/>
        </p:nvSpPr>
        <p:spPr>
          <a:xfrm xmlns:a="http://schemas.openxmlformats.org/drawingml/2006/main">
            <a:off x="647700" y="2905125"/>
            <a:ext cx="6572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5171A"/>
                </a:solidFill>
                <a:latin typeface="Inter"/>
                <a:ea typeface="Inter"/>
                <a:cs typeface="Inter"/>
              </a:defRPr>
            </a:pPr>
            <a:r>
              <a:rPr sz="2550" b="0">
                <a:solidFill>
                  <a:srgbClr val="15171A"/>
                </a:solidFill>
                <a:latin typeface="Inter"/>
                <a:ea typeface="Inter"/>
                <a:cs typeface="Inter"/>
              </a:rPr>
              <a:t>Kleine Zahlungen summieren sich.</a:t>
            </a:r>
          </a:p>
          <a:p xmlns:a="http://schemas.openxmlformats.org/drawingml/2006/main">
            <a:pPr algn="l">
              <a:defRPr sz="2550" b="0">
                <a:solidFill>
                  <a:srgbClr val="15171A"/>
                </a:solidFill>
                <a:latin typeface="Inter"/>
                <a:ea typeface="Inter"/>
                <a:cs typeface="Inter"/>
              </a:defRPr>
            </a:pPr>
            <a:r>
              <a:rPr sz="2550" b="0">
                <a:solidFill>
                  <a:srgbClr val="15171A"/>
                </a:solidFill>
                <a:latin typeface="Inter"/>
                <a:ea typeface="Inter"/>
                <a:cs typeface="Inter"/>
              </a:rPr>
              <a:t>Spendly zeigt das restliche Budget.</a:t>
            </a:r>
          </a:p>
        </p:txBody>
      </p:sp>
      <p:sp>
        <p:nvSpPr>
          <p:cNvPr id="5" name="">
            <a:extLst xmlns:a="http://schemas.openxmlformats.org/drawingml/2006/main">
              <a:ext uri="{FF2B5EF4-FFF2-40B4-BE49-F238E27FC236}">
                <a16:creationId xmlns:a16="http://schemas.microsoft.com/office/drawing/2014/main" id="{FE620646-EF93-42D1-82AF-DA72A4D2701B}"/>
              </a:ext>
            </a:extLst>
          </p:cNvPr>
          <p:cNvSpPr>
            <a:spLocks xmlns:a="http://schemas.openxmlformats.org/drawingml/2006/main" noGrp="1"/>
          </p:cNvSpPr>
          <p:nvPr/>
        </p:nvSpPr>
        <p:spPr>
          <a:xfrm xmlns:a="http://schemas.openxmlformats.org/drawingml/2006/main">
            <a:off x="647700" y="4457700"/>
            <a:ext cx="657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6E6D68"/>
                </a:solidFill>
                <a:latin typeface="Inter"/>
                <a:ea typeface="Inter"/>
                <a:cs typeface="Inter"/>
              </a:defRPr>
            </a:pPr>
            <a:r>
              <a:rPr sz="2025" b="0">
                <a:solidFill>
                  <a:srgbClr val="6E6D68"/>
                </a:solidFill>
                <a:latin typeface="Inter"/>
                <a:ea typeface="Inter"/>
                <a:cs typeface="Inter"/>
              </a:rPr>
              <a:t>Für Lernende und Studierende</a:t>
            </a:r>
          </a:p>
          <a:p xmlns:a="http://schemas.openxmlformats.org/drawingml/2006/main">
            <a:pPr algn="l">
              <a:defRPr sz="2025" b="0">
                <a:solidFill>
                  <a:srgbClr val="6E6D68"/>
                </a:solidFill>
                <a:latin typeface="Inter"/>
                <a:ea typeface="Inter"/>
                <a:cs typeface="Inter"/>
              </a:defRPr>
            </a:pPr>
            <a:r>
              <a:rPr sz="2025" b="0">
                <a:solidFill>
                  <a:srgbClr val="6E6D68"/>
                </a:solidFill>
                <a:latin typeface="Inter"/>
                <a:ea typeface="Inter"/>
                <a:cs typeface="Inter"/>
              </a:rPr>
              <a:t>Ausgaben in CHF, ein Budget pro Monat</a:t>
            </a:r>
          </a:p>
        </p:txBody>
      </p:sp>
      <p:sp>
        <p:nvSpPr>
          <p:cNvPr id="6" name="">
            <a:extLst xmlns:a="http://schemas.openxmlformats.org/drawingml/2006/main">
              <a:ext uri="{FF2B5EF4-FFF2-40B4-BE49-F238E27FC236}">
                <a16:creationId xmlns:a16="http://schemas.microsoft.com/office/drawing/2014/main" id="{40BE945F-481E-46D0-AC90-9D486C4F49FE}"/>
              </a:ext>
            </a:extLst>
          </p:cNvPr>
          <p:cNvSpPr>
            <a:spLocks xmlns:a="http://schemas.openxmlformats.org/drawingml/2006/main" noGrp="1"/>
          </p:cNvSpPr>
          <p:nvPr/>
        </p:nvSpPr>
        <p:spPr>
          <a:xfrm xmlns:a="http://schemas.openxmlformats.org/drawingml/2006/main">
            <a:off x="647700" y="5629275"/>
            <a:ext cx="676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F5A45"/>
                </a:solidFill>
                <a:latin typeface="Inter"/>
                <a:ea typeface="Inter"/>
                <a:cs typeface="Inter"/>
              </a:defRPr>
            </a:pPr>
            <a:r>
              <a:rPr sz="1875" b="0">
                <a:solidFill>
                  <a:srgbClr val="1F5A45"/>
                </a:solidFill>
                <a:latin typeface="Inter"/>
                <a:ea typeface="Inter"/>
                <a:cs typeface="Inter"/>
              </a:rPr>
              <a:t>Ohne Konto und ohne Bankanbindung</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f5e07adff08f4cc3"/>
          <a:stretch xmlns:a="http://schemas.openxmlformats.org/drawingml/2006/main"/>
        </p:blipFill>
        <p:spPr>
          <a:xfrm xmlns:a="http://schemas.openxmlformats.org/drawingml/2006/main">
            <a:off x="8472978" y="1343025"/>
            <a:ext cx="2199294" cy="4781550"/>
          </a:xfrm>
          <a:prstGeom xmlns:a="http://schemas.openxmlformats.org/drawingml/2006/main" prst="rect">
            <a:avLst/>
          </a:prstGeom>
        </p:spPr>
      </p:pic>
    </p:spTree>
    <p:extLst>
      <p:ext uri="{BB962C8B-B14F-4D97-AF65-F5344CB8AC3E}">
        <p14:creationId xmlns:p14="http://schemas.microsoft.com/office/powerpoint/2010/main" val="328255084"/>
      </p:ext>
    </p:extLst>
  </p:cSld>
</p:sld>
</file>

<file path=ppt/slides/slide3.xml><?xml version="1.0" encoding="utf-8"?>
<p:sld xmlns:p="http://schemas.openxmlformats.org/presentationml/2006/main">
  <p:cSld>
    <p:bg>
      <p:bgPr>
        <a:solidFill xmlns:a="http://schemas.openxmlformats.org/drawingml/2006/main">
          <a:srgbClr val="F6F5F1"/>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3B1AC61-F739-470D-9295-DF926D9E72DE}"/>
              </a:ext>
            </a:extLst>
          </p:cNvPr>
          <p:cNvSpPr>
            <a:spLocks xmlns:a="http://schemas.openxmlformats.org/drawingml/2006/main" noGrp="1"/>
          </p:cNvSpPr>
          <p:nvPr/>
        </p:nvSpPr>
        <p:spPr>
          <a:xfrm xmlns:a="http://schemas.openxmlformats.org/drawingml/2006/main">
            <a:off x="11334750" y="6296025"/>
            <a:ext cx="3333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6E6D68"/>
                </a:solidFill>
                <a:latin typeface="Inter"/>
                <a:ea typeface="Inter"/>
                <a:cs typeface="Inter"/>
              </a:defRPr>
            </a:pPr>
            <a:r>
              <a:rPr sz="1275" b="0">
                <a:solidFill>
                  <a:srgbClr val="6E6D68"/>
                </a:solidFill>
                <a:latin typeface="Inter"/>
                <a:ea typeface="Inter"/>
                <a:cs typeface="Inter"/>
              </a:rPr>
              <a:t>3</a:t>
            </a:r>
          </a:p>
        </p:txBody>
      </p:sp>
      <p:sp>
        <p:nvSpPr>
          <p:cNvPr id="2" name="">
            <a:extLst xmlns:a="http://schemas.openxmlformats.org/drawingml/2006/main">
              <a:ext uri="{FF2B5EF4-FFF2-40B4-BE49-F238E27FC236}">
                <a16:creationId xmlns:a16="http://schemas.microsoft.com/office/drawing/2014/main" id="{0BB43B96-CF9B-4999-BE0A-DB5EAE8DE4A8}"/>
              </a:ext>
            </a:extLst>
          </p:cNvPr>
          <p:cNvSpPr>
            <a:spLocks xmlns:a="http://schemas.openxmlformats.org/drawingml/2006/main" noGrp="1"/>
          </p:cNvSpPr>
          <p:nvPr/>
        </p:nvSpPr>
        <p:spPr>
          <a:xfrm xmlns:a="http://schemas.openxmlformats.org/drawingml/2006/main">
            <a:off x="609600" y="476250"/>
            <a:ext cx="10934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75" b="0">
                <a:solidFill>
                  <a:srgbClr val="15171A"/>
                </a:solidFill>
                <a:latin typeface="Newsreader"/>
                <a:ea typeface="Newsreader"/>
                <a:cs typeface="Newsreader"/>
              </a:defRPr>
            </a:pPr>
            <a:r>
              <a:rPr sz="3975" b="0">
                <a:solidFill>
                  <a:srgbClr val="15171A"/>
                </a:solidFill>
                <a:latin typeface="Newsreader"/>
                <a:ea typeface="Newsreader"/>
                <a:cs typeface="Newsreader"/>
              </a:rPr>
              <a:t>Konzept und Design</a:t>
            </a:r>
          </a:p>
        </p:txBody>
      </p:sp>
      <p:sp>
        <p:nvSpPr>
          <p:cNvPr id="3" name="">
            <a:extLst xmlns:a="http://schemas.openxmlformats.org/drawingml/2006/main">
              <a:ext uri="{FF2B5EF4-FFF2-40B4-BE49-F238E27FC236}">
                <a16:creationId xmlns:a16="http://schemas.microsoft.com/office/drawing/2014/main" id="{88F4F4C2-293D-4E83-8031-ABD530A8B2EE}"/>
              </a:ext>
            </a:extLst>
          </p:cNvPr>
          <p:cNvSpPr>
            <a:spLocks xmlns:a="http://schemas.openxmlformats.org/drawingml/2006/main" noGrp="1"/>
          </p:cNvSpPr>
          <p:nvPr/>
        </p:nvSpPr>
        <p:spPr>
          <a:xfrm xmlns:a="http://schemas.openxmlformats.org/drawingml/2006/main">
            <a:off x="609600" y="1762125"/>
            <a:ext cx="5048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F5A45"/>
                </a:solidFill>
                <a:latin typeface="Newsreader"/>
                <a:ea typeface="Newsreader"/>
                <a:cs typeface="Newsreader"/>
              </a:defRPr>
            </a:pPr>
            <a:r>
              <a:rPr sz="2850" b="0">
                <a:solidFill>
                  <a:srgbClr val="1F5A45"/>
                </a:solidFill>
                <a:latin typeface="Newsreader"/>
                <a:ea typeface="Newsreader"/>
                <a:cs typeface="Newsreader"/>
              </a:rPr>
              <a:t>Budget im Fokus</a:t>
            </a:r>
          </a:p>
        </p:txBody>
      </p:sp>
      <p:sp>
        <p:nvSpPr>
          <p:cNvPr id="4" name="">
            <a:extLst xmlns:a="http://schemas.openxmlformats.org/drawingml/2006/main">
              <a:ext uri="{FF2B5EF4-FFF2-40B4-BE49-F238E27FC236}">
                <a16:creationId xmlns:a16="http://schemas.microsoft.com/office/drawing/2014/main" id="{B00C9683-948E-41B4-A016-AD0E6AD5C0E7}"/>
              </a:ext>
            </a:extLst>
          </p:cNvPr>
          <p:cNvSpPr>
            <a:spLocks xmlns:a="http://schemas.openxmlformats.org/drawingml/2006/main" noGrp="1"/>
          </p:cNvSpPr>
          <p:nvPr/>
        </p:nvSpPr>
        <p:spPr>
          <a:xfrm xmlns:a="http://schemas.openxmlformats.org/drawingml/2006/main">
            <a:off x="638175" y="2533650"/>
            <a:ext cx="466725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5171A"/>
                </a:solidFill>
                <a:latin typeface="Inter"/>
                <a:ea typeface="Inter"/>
                <a:cs typeface="Inter"/>
              </a:defRPr>
            </a:pPr>
            <a:r>
              <a:rPr sz="2250" b="0">
                <a:solidFill>
                  <a:srgbClr val="15171A"/>
                </a:solidFill>
                <a:latin typeface="Inter"/>
                <a:ea typeface="Inter"/>
                <a:cs typeface="Inter"/>
              </a:rPr>
              <a:t>Grosse Beträge</a:t>
            </a:r>
          </a:p>
          <a:p xmlns:a="http://schemas.openxmlformats.org/drawingml/2006/main">
            <a:pPr algn="l">
              <a:defRPr sz="2250" b="0">
                <a:solidFill>
                  <a:srgbClr val="15171A"/>
                </a:solidFill>
                <a:latin typeface="Inter"/>
                <a:ea typeface="Inter"/>
                <a:cs typeface="Inter"/>
              </a:defRPr>
            </a:pPr>
            <a:r>
              <a:rPr sz="2250" b="0">
                <a:solidFill>
                  <a:srgbClr val="15171A"/>
                </a:solidFill>
                <a:latin typeface="Inter"/>
                <a:ea typeface="Inter"/>
                <a:cs typeface="Inter"/>
              </a:rPr>
              <a:t>Ruhige Farben</a:t>
            </a:r>
          </a:p>
          <a:p xmlns:a="http://schemas.openxmlformats.org/drawingml/2006/main">
            <a:pPr algn="l">
              <a:defRPr sz="2250" b="0">
                <a:solidFill>
                  <a:srgbClr val="15171A"/>
                </a:solidFill>
                <a:latin typeface="Inter"/>
                <a:ea typeface="Inter"/>
                <a:cs typeface="Inter"/>
              </a:defRPr>
            </a:pPr>
            <a:r>
              <a:rPr sz="2250" b="0">
                <a:solidFill>
                  <a:srgbClr val="15171A"/>
                </a:solidFill>
                <a:latin typeface="Inter"/>
                <a:ea typeface="Inter"/>
                <a:cs typeface="Inter"/>
              </a:rPr>
              <a:t>Kurze Wege</a:t>
            </a:r>
          </a:p>
        </p:txBody>
      </p:sp>
      <p:sp>
        <p:nvSpPr>
          <p:cNvPr id="5" name="">
            <a:extLst xmlns:a="http://schemas.openxmlformats.org/drawingml/2006/main">
              <a:ext uri="{FF2B5EF4-FFF2-40B4-BE49-F238E27FC236}">
                <a16:creationId xmlns:a16="http://schemas.microsoft.com/office/drawing/2014/main" id="{FD2EB3EF-4FA7-4E5B-A258-1868F1F1B251}"/>
              </a:ext>
            </a:extLst>
          </p:cNvPr>
          <p:cNvSpPr>
            <a:spLocks xmlns:a="http://schemas.openxmlformats.org/drawingml/2006/main" noGrp="1"/>
          </p:cNvSpPr>
          <p:nvPr/>
        </p:nvSpPr>
        <p:spPr>
          <a:xfrm xmlns:a="http://schemas.openxmlformats.org/drawingml/2006/main">
            <a:off x="638175" y="4400550"/>
            <a:ext cx="4667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F5A45"/>
                </a:solidFill>
                <a:latin typeface="Inter"/>
                <a:ea typeface="Inter"/>
                <a:cs typeface="Inter"/>
              </a:defRPr>
            </a:pPr>
            <a:r>
              <a:rPr sz="1725" b="1">
                <a:solidFill>
                  <a:srgbClr val="1F5A45"/>
                </a:solidFill>
                <a:latin typeface="Inter"/>
                <a:ea typeface="Inter"/>
                <a:cs typeface="Inter"/>
              </a:rPr>
              <a:t>Vorgehen</a:t>
            </a:r>
          </a:p>
        </p:txBody>
      </p:sp>
      <p:sp>
        <p:nvSpPr>
          <p:cNvPr id="6" name="">
            <a:extLst xmlns:a="http://schemas.openxmlformats.org/drawingml/2006/main">
              <a:ext uri="{FF2B5EF4-FFF2-40B4-BE49-F238E27FC236}">
                <a16:creationId xmlns:a16="http://schemas.microsoft.com/office/drawing/2014/main" id="{49192D9C-0148-4C39-BED5-B6A640AA55DD}"/>
              </a:ext>
            </a:extLst>
          </p:cNvPr>
          <p:cNvSpPr>
            <a:spLocks xmlns:a="http://schemas.openxmlformats.org/drawingml/2006/main" noGrp="1"/>
          </p:cNvSpPr>
          <p:nvPr/>
        </p:nvSpPr>
        <p:spPr>
          <a:xfrm xmlns:a="http://schemas.openxmlformats.org/drawingml/2006/main">
            <a:off x="638175" y="4895850"/>
            <a:ext cx="47625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6E6D68"/>
                </a:solidFill>
                <a:latin typeface="Inter"/>
                <a:ea typeface="Inter"/>
                <a:cs typeface="Inter"/>
              </a:defRPr>
            </a:pPr>
            <a:r>
              <a:rPr sz="1800" b="0">
                <a:solidFill>
                  <a:srgbClr val="6E6D68"/>
                </a:solidFill>
                <a:latin typeface="Inter"/>
                <a:ea typeface="Inter"/>
                <a:cs typeface="Inter"/>
              </a:rPr>
              <a:t>23.9.  Oberfläche und Navigation</a:t>
            </a:r>
          </a:p>
          <a:p xmlns:a="http://schemas.openxmlformats.org/drawingml/2006/main">
            <a:pPr algn="l">
              <a:defRPr sz="1800" b="0">
                <a:solidFill>
                  <a:srgbClr val="6E6D68"/>
                </a:solidFill>
                <a:latin typeface="Inter"/>
                <a:ea typeface="Inter"/>
                <a:cs typeface="Inter"/>
              </a:defRPr>
            </a:pPr>
            <a:r>
              <a:rPr sz="1800" b="0">
                <a:solidFill>
                  <a:srgbClr val="6E6D68"/>
                </a:solidFill>
                <a:latin typeface="Inter"/>
                <a:ea typeface="Inter"/>
                <a:cs typeface="Inter"/>
              </a:rPr>
              <a:t>24.9.  Speicherung und Biometrie</a:t>
            </a:r>
          </a:p>
          <a:p xmlns:a="http://schemas.openxmlformats.org/drawingml/2006/main">
            <a:pPr algn="l">
              <a:defRPr sz="1800" b="0">
                <a:solidFill>
                  <a:srgbClr val="6E6D68"/>
                </a:solidFill>
                <a:latin typeface="Inter"/>
                <a:ea typeface="Inter"/>
                <a:cs typeface="Inter"/>
              </a:defRPr>
            </a:pPr>
            <a:r>
              <a:rPr sz="1800" b="0">
                <a:solidFill>
                  <a:srgbClr val="6E6D68"/>
                </a:solidFill>
                <a:latin typeface="Inter"/>
                <a:ea typeface="Inter"/>
                <a:cs typeface="Inter"/>
              </a:rPr>
              <a:t>25.9.  Fehlerfälle und Tests</a:t>
            </a:r>
          </a:p>
        </p:txBody>
      </p:sp>
      <p:sp>
        <p:nvSpPr>
          <p:cNvPr id="7" name="">
            <a:extLst xmlns:a="http://schemas.openxmlformats.org/drawingml/2006/main">
              <a:ext uri="{FF2B5EF4-FFF2-40B4-BE49-F238E27FC236}">
                <a16:creationId xmlns:a16="http://schemas.microsoft.com/office/drawing/2014/main" id="{E21355EB-1E10-465A-BCAB-1310B95B39D0}"/>
              </a:ext>
            </a:extLst>
          </p:cNvPr>
          <p:cNvSpPr>
            <a:spLocks xmlns:a="http://schemas.openxmlformats.org/drawingml/2006/main" noGrp="1"/>
          </p:cNvSpPr>
          <p:nvPr/>
        </p:nvSpPr>
        <p:spPr>
          <a:xfrm xmlns:a="http://schemas.openxmlformats.org/drawingml/2006/main">
            <a:off x="6000750" y="1390650"/>
            <a:ext cx="23431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6E6D68"/>
                </a:solidFill>
                <a:latin typeface="Inter"/>
                <a:ea typeface="Inter"/>
                <a:cs typeface="Inter"/>
              </a:defRPr>
            </a:pPr>
            <a:r>
              <a:rPr sz="1500" b="1">
                <a:solidFill>
                  <a:srgbClr val="6E6D68"/>
                </a:solidFill>
                <a:latin typeface="Inter"/>
                <a:ea typeface="Inter"/>
                <a:cs typeface="Inter"/>
              </a:rPr>
              <a:t>LB1-Mockup</a:t>
            </a:r>
          </a:p>
        </p:txBody>
      </p:sp>
      <p:sp>
        <p:nvSpPr>
          <p:cNvPr id="8" name="">
            <a:extLst xmlns:a="http://schemas.openxmlformats.org/drawingml/2006/main">
              <a:ext uri="{FF2B5EF4-FFF2-40B4-BE49-F238E27FC236}">
                <a16:creationId xmlns:a16="http://schemas.microsoft.com/office/drawing/2014/main" id="{532ED6AD-38E9-4CC5-80FC-305A2A6B8842}"/>
              </a:ext>
            </a:extLst>
          </p:cNvPr>
          <p:cNvSpPr>
            <a:spLocks xmlns:a="http://schemas.openxmlformats.org/drawingml/2006/main" noGrp="1"/>
          </p:cNvSpPr>
          <p:nvPr/>
        </p:nvSpPr>
        <p:spPr>
          <a:xfrm xmlns:a="http://schemas.openxmlformats.org/drawingml/2006/main">
            <a:off x="8924925" y="1390650"/>
            <a:ext cx="23431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1F5A45"/>
                </a:solidFill>
                <a:latin typeface="Inter"/>
                <a:ea typeface="Inter"/>
                <a:cs typeface="Inter"/>
              </a:defRPr>
            </a:pPr>
            <a:r>
              <a:rPr sz="1500" b="1">
                <a:solidFill>
                  <a:srgbClr val="1F5A45"/>
                </a:solidFill>
                <a:latin typeface="Inter"/>
                <a:ea typeface="Inter"/>
                <a:cs typeface="Inter"/>
              </a:rPr>
              <a:t>App heute</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f9705ec11896454b"/>
          <a:stretch xmlns:a="http://schemas.openxmlformats.org/drawingml/2006/main"/>
        </p:blipFill>
        <p:spPr>
          <a:xfrm xmlns:a="http://schemas.openxmlformats.org/drawingml/2006/main">
            <a:off x="6098460" y="1809750"/>
            <a:ext cx="2033430" cy="4400550"/>
          </a:xfrm>
          <a:prstGeom xmlns:a="http://schemas.openxmlformats.org/drawingml/2006/main" prst="rect">
            <a:avLst/>
          </a:prstGeom>
        </p:spPr>
      </p:pic>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4a626e0c26324f0e"/>
          <a:stretch xmlns:a="http://schemas.openxmlformats.org/drawingml/2006/main"/>
        </p:blipFill>
        <p:spPr>
          <a:xfrm xmlns:a="http://schemas.openxmlformats.org/drawingml/2006/main">
            <a:off x="9027324" y="1809750"/>
            <a:ext cx="2024052" cy="4400550"/>
          </a:xfrm>
          <a:prstGeom xmlns:a="http://schemas.openxmlformats.org/drawingml/2006/main" prst="rect">
            <a:avLst/>
          </a:prstGeom>
        </p:spPr>
      </p:pic>
    </p:spTree>
    <p:extLst>
      <p:ext uri="{BB962C8B-B14F-4D97-AF65-F5344CB8AC3E}">
        <p14:creationId xmlns:p14="http://schemas.microsoft.com/office/powerpoint/2010/main" val="688257642"/>
      </p:ext>
    </p:extLst>
  </p:cSld>
</p:sld>
</file>

<file path=ppt/slides/slide4.xml><?xml version="1.0" encoding="utf-8"?>
<p:sld xmlns:p="http://schemas.openxmlformats.org/presentationml/2006/main">
  <p:cSld>
    <p:bg>
      <p:bgPr>
        <a:solidFill xmlns:a="http://schemas.openxmlformats.org/drawingml/2006/main">
          <a:srgbClr val="1F5A45"/>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1402DC1-627B-4DA9-8316-1CDE4F4B0900}"/>
              </a:ext>
            </a:extLst>
          </p:cNvPr>
          <p:cNvSpPr>
            <a:spLocks xmlns:a="http://schemas.openxmlformats.org/drawingml/2006/main" noGrp="1"/>
          </p:cNvSpPr>
          <p:nvPr/>
        </p:nvSpPr>
        <p:spPr>
          <a:xfrm xmlns:a="http://schemas.openxmlformats.org/drawingml/2006/main">
            <a:off x="11334750" y="6296025"/>
            <a:ext cx="3333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DCEBE2"/>
                </a:solidFill>
                <a:latin typeface="Inter"/>
                <a:ea typeface="Inter"/>
                <a:cs typeface="Inter"/>
              </a:defRPr>
            </a:pPr>
            <a:r>
              <a:rPr sz="1275" b="0">
                <a:solidFill>
                  <a:srgbClr val="DCEBE2"/>
                </a:solidFill>
                <a:latin typeface="Inter"/>
                <a:ea typeface="Inter"/>
                <a:cs typeface="Inter"/>
              </a:rPr>
              <a:t>4</a:t>
            </a:r>
          </a:p>
        </p:txBody>
      </p:sp>
      <p:sp>
        <p:nvSpPr>
          <p:cNvPr id="2" name="">
            <a:extLst xmlns:a="http://schemas.openxmlformats.org/drawingml/2006/main">
              <a:ext uri="{FF2B5EF4-FFF2-40B4-BE49-F238E27FC236}">
                <a16:creationId xmlns:a16="http://schemas.microsoft.com/office/drawing/2014/main" id="{51670070-7D4F-4643-907F-53A285AB415C}"/>
              </a:ext>
            </a:extLst>
          </p:cNvPr>
          <p:cNvSpPr>
            <a:spLocks xmlns:a="http://schemas.openxmlformats.org/drawingml/2006/main" noGrp="1"/>
          </p:cNvSpPr>
          <p:nvPr/>
        </p:nvSpPr>
        <p:spPr>
          <a:xfrm xmlns:a="http://schemas.openxmlformats.org/drawingml/2006/main">
            <a:off x="609600" y="476250"/>
            <a:ext cx="10934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75" b="0">
                <a:solidFill>
                  <a:srgbClr val="F6F5F1"/>
                </a:solidFill>
                <a:latin typeface="Newsreader"/>
                <a:ea typeface="Newsreader"/>
                <a:cs typeface="Newsreader"/>
              </a:defRPr>
            </a:pPr>
            <a:r>
              <a:rPr sz="3975" b="0">
                <a:solidFill>
                  <a:srgbClr val="F6F5F1"/>
                </a:solidFill>
                <a:latin typeface="Newsreader"/>
                <a:ea typeface="Newsreader"/>
                <a:cs typeface="Newsreader"/>
              </a:rPr>
              <a:t>Live-Demo</a:t>
            </a:r>
          </a:p>
        </p:txBody>
      </p:sp>
      <p:sp>
        <p:nvSpPr>
          <p:cNvPr id="3" name="">
            <a:extLst xmlns:a="http://schemas.openxmlformats.org/drawingml/2006/main">
              <a:ext uri="{FF2B5EF4-FFF2-40B4-BE49-F238E27FC236}">
                <a16:creationId xmlns:a16="http://schemas.microsoft.com/office/drawing/2014/main" id="{03B94287-C734-4244-8E7F-A1390CF7754D}"/>
              </a:ext>
            </a:extLst>
          </p:cNvPr>
          <p:cNvSpPr>
            <a:spLocks xmlns:a="http://schemas.openxmlformats.org/drawingml/2006/main" noGrp="1"/>
          </p:cNvSpPr>
          <p:nvPr/>
        </p:nvSpPr>
        <p:spPr>
          <a:xfrm xmlns:a="http://schemas.openxmlformats.org/drawingml/2006/main">
            <a:off x="638175" y="1847850"/>
            <a:ext cx="85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0">
                <a:solidFill>
                  <a:srgbClr val="DCEBE2"/>
                </a:solidFill>
                <a:latin typeface="Newsreader"/>
                <a:ea typeface="Newsreader"/>
                <a:cs typeface="Newsreader"/>
              </a:defRPr>
            </a:pPr>
            <a:r>
              <a:rPr sz="3375" b="0">
                <a:solidFill>
                  <a:srgbClr val="DCEBE2"/>
                </a:solidFill>
                <a:latin typeface="Newsreader"/>
                <a:ea typeface="Newsreader"/>
                <a:cs typeface="Newsreader"/>
              </a:rPr>
              <a:t>01</a:t>
            </a:r>
          </a:p>
        </p:txBody>
      </p:sp>
      <p:sp>
        <p:nvSpPr>
          <p:cNvPr id="4" name="">
            <a:extLst xmlns:a="http://schemas.openxmlformats.org/drawingml/2006/main">
              <a:ext uri="{FF2B5EF4-FFF2-40B4-BE49-F238E27FC236}">
                <a16:creationId xmlns:a16="http://schemas.microsoft.com/office/drawing/2014/main" id="{1AFFA326-9F41-45AD-918A-4A53316F36A9}"/>
              </a:ext>
            </a:extLst>
          </p:cNvPr>
          <p:cNvSpPr>
            <a:spLocks xmlns:a="http://schemas.openxmlformats.org/drawingml/2006/main" noGrp="1"/>
          </p:cNvSpPr>
          <p:nvPr/>
        </p:nvSpPr>
        <p:spPr>
          <a:xfrm xmlns:a="http://schemas.openxmlformats.org/drawingml/2006/main">
            <a:off x="1609725" y="1847850"/>
            <a:ext cx="61912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F6F5F1"/>
                </a:solidFill>
                <a:latin typeface="Newsreader"/>
                <a:ea typeface="Newsreader"/>
                <a:cs typeface="Newsreader"/>
              </a:defRPr>
            </a:pPr>
            <a:r>
              <a:rPr sz="2850" b="0">
                <a:solidFill>
                  <a:srgbClr val="F6F5F1"/>
                </a:solidFill>
                <a:latin typeface="Newsreader"/>
                <a:ea typeface="Newsreader"/>
                <a:cs typeface="Newsreader"/>
              </a:rPr>
              <a:t>Erfassen</a:t>
            </a:r>
          </a:p>
        </p:txBody>
      </p:sp>
      <p:sp>
        <p:nvSpPr>
          <p:cNvPr id="5" name="">
            <a:extLst xmlns:a="http://schemas.openxmlformats.org/drawingml/2006/main">
              <a:ext uri="{FF2B5EF4-FFF2-40B4-BE49-F238E27FC236}">
                <a16:creationId xmlns:a16="http://schemas.microsoft.com/office/drawing/2014/main" id="{967084AE-FD5A-4A0D-B02C-D099C49083F4}"/>
              </a:ext>
            </a:extLst>
          </p:cNvPr>
          <p:cNvSpPr>
            <a:spLocks xmlns:a="http://schemas.openxmlformats.org/drawingml/2006/main" noGrp="1"/>
          </p:cNvSpPr>
          <p:nvPr/>
        </p:nvSpPr>
        <p:spPr>
          <a:xfrm xmlns:a="http://schemas.openxmlformats.org/drawingml/2006/main">
            <a:off x="1628775" y="2447925"/>
            <a:ext cx="6238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DCEBE2"/>
                </a:solidFill>
                <a:latin typeface="Inter"/>
                <a:ea typeface="Inter"/>
                <a:cs typeface="Inter"/>
              </a:defRPr>
            </a:pPr>
            <a:r>
              <a:rPr sz="1875" b="0">
                <a:solidFill>
                  <a:srgbClr val="DCEBE2"/>
                </a:solidFill>
                <a:latin typeface="Inter"/>
                <a:ea typeface="Inter"/>
                <a:cs typeface="Inter"/>
              </a:rPr>
              <a:t>CHF 14.80, Essen &amp; Trinken</a:t>
            </a:r>
          </a:p>
        </p:txBody>
      </p:sp>
      <p:sp>
        <p:nvSpPr>
          <p:cNvPr id="6" name="">
            <a:extLst xmlns:a="http://schemas.openxmlformats.org/drawingml/2006/main">
              <a:ext uri="{FF2B5EF4-FFF2-40B4-BE49-F238E27FC236}">
                <a16:creationId xmlns:a16="http://schemas.microsoft.com/office/drawing/2014/main" id="{1DB20EC5-7C51-4BD4-96DC-68F936D97E6E}"/>
              </a:ext>
            </a:extLst>
          </p:cNvPr>
          <p:cNvSpPr>
            <a:spLocks xmlns:a="http://schemas.openxmlformats.org/drawingml/2006/main" noGrp="1"/>
          </p:cNvSpPr>
          <p:nvPr/>
        </p:nvSpPr>
        <p:spPr>
          <a:xfrm xmlns:a="http://schemas.openxmlformats.org/drawingml/2006/main">
            <a:off x="638175" y="3228975"/>
            <a:ext cx="85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0">
                <a:solidFill>
                  <a:srgbClr val="DCEBE2"/>
                </a:solidFill>
                <a:latin typeface="Newsreader"/>
                <a:ea typeface="Newsreader"/>
                <a:cs typeface="Newsreader"/>
              </a:defRPr>
            </a:pPr>
            <a:r>
              <a:rPr sz="3375" b="0">
                <a:solidFill>
                  <a:srgbClr val="DCEBE2"/>
                </a:solidFill>
                <a:latin typeface="Newsreader"/>
                <a:ea typeface="Newsreader"/>
                <a:cs typeface="Newsreader"/>
              </a:rPr>
              <a:t>02</a:t>
            </a:r>
          </a:p>
        </p:txBody>
      </p:sp>
      <p:sp>
        <p:nvSpPr>
          <p:cNvPr id="7" name="">
            <a:extLst xmlns:a="http://schemas.openxmlformats.org/drawingml/2006/main">
              <a:ext uri="{FF2B5EF4-FFF2-40B4-BE49-F238E27FC236}">
                <a16:creationId xmlns:a16="http://schemas.microsoft.com/office/drawing/2014/main" id="{9FAC46F8-41DB-4EA8-8CC0-06CD6870450E}"/>
              </a:ext>
            </a:extLst>
          </p:cNvPr>
          <p:cNvSpPr>
            <a:spLocks xmlns:a="http://schemas.openxmlformats.org/drawingml/2006/main" noGrp="1"/>
          </p:cNvSpPr>
          <p:nvPr/>
        </p:nvSpPr>
        <p:spPr>
          <a:xfrm xmlns:a="http://schemas.openxmlformats.org/drawingml/2006/main">
            <a:off x="1609725" y="3228975"/>
            <a:ext cx="61912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F6F5F1"/>
                </a:solidFill>
                <a:latin typeface="Newsreader"/>
                <a:ea typeface="Newsreader"/>
                <a:cs typeface="Newsreader"/>
              </a:defRPr>
            </a:pPr>
            <a:r>
              <a:rPr sz="2850" b="0">
                <a:solidFill>
                  <a:srgbClr val="F6F5F1"/>
                </a:solidFill>
                <a:latin typeface="Newsreader"/>
                <a:ea typeface="Newsreader"/>
                <a:cs typeface="Newsreader"/>
              </a:rPr>
              <a:t>Prüfen</a:t>
            </a:r>
          </a:p>
        </p:txBody>
      </p:sp>
      <p:sp>
        <p:nvSpPr>
          <p:cNvPr id="8" name="">
            <a:extLst xmlns:a="http://schemas.openxmlformats.org/drawingml/2006/main">
              <a:ext uri="{FF2B5EF4-FFF2-40B4-BE49-F238E27FC236}">
                <a16:creationId xmlns:a16="http://schemas.microsoft.com/office/drawing/2014/main" id="{9A5DE003-D6E6-4B14-A69A-332427F4412D}"/>
              </a:ext>
            </a:extLst>
          </p:cNvPr>
          <p:cNvSpPr>
            <a:spLocks xmlns:a="http://schemas.openxmlformats.org/drawingml/2006/main" noGrp="1"/>
          </p:cNvSpPr>
          <p:nvPr/>
        </p:nvSpPr>
        <p:spPr>
          <a:xfrm xmlns:a="http://schemas.openxmlformats.org/drawingml/2006/main">
            <a:off x="1628775" y="3829050"/>
            <a:ext cx="6238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DCEBE2"/>
                </a:solidFill>
                <a:latin typeface="Inter"/>
                <a:ea typeface="Inter"/>
                <a:cs typeface="Inter"/>
              </a:defRPr>
            </a:pPr>
            <a:r>
              <a:rPr sz="1875" b="0">
                <a:solidFill>
                  <a:srgbClr val="DCEBE2"/>
                </a:solidFill>
                <a:latin typeface="Inter"/>
                <a:ea typeface="Inter"/>
                <a:cs typeface="Inter"/>
              </a:rPr>
              <a:t>Budget und Verlauf aktualisieren sich</a:t>
            </a:r>
          </a:p>
        </p:txBody>
      </p:sp>
      <p:sp>
        <p:nvSpPr>
          <p:cNvPr id="9" name="">
            <a:extLst xmlns:a="http://schemas.openxmlformats.org/drawingml/2006/main">
              <a:ext uri="{FF2B5EF4-FFF2-40B4-BE49-F238E27FC236}">
                <a16:creationId xmlns:a16="http://schemas.microsoft.com/office/drawing/2014/main" id="{2F0E4CF4-B579-4A15-9E44-33B60F9EBAE2}"/>
              </a:ext>
            </a:extLst>
          </p:cNvPr>
          <p:cNvSpPr>
            <a:spLocks xmlns:a="http://schemas.openxmlformats.org/drawingml/2006/main" noGrp="1"/>
          </p:cNvSpPr>
          <p:nvPr/>
        </p:nvSpPr>
        <p:spPr>
          <a:xfrm xmlns:a="http://schemas.openxmlformats.org/drawingml/2006/main">
            <a:off x="638175" y="4610100"/>
            <a:ext cx="85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0">
                <a:solidFill>
                  <a:srgbClr val="DCEBE2"/>
                </a:solidFill>
                <a:latin typeface="Newsreader"/>
                <a:ea typeface="Newsreader"/>
                <a:cs typeface="Newsreader"/>
              </a:defRPr>
            </a:pPr>
            <a:r>
              <a:rPr sz="3375" b="0">
                <a:solidFill>
                  <a:srgbClr val="DCEBE2"/>
                </a:solidFill>
                <a:latin typeface="Newsreader"/>
                <a:ea typeface="Newsreader"/>
                <a:cs typeface="Newsreader"/>
              </a:rPr>
              <a:t>03</a:t>
            </a:r>
          </a:p>
        </p:txBody>
      </p:sp>
      <p:sp>
        <p:nvSpPr>
          <p:cNvPr id="10" name="">
            <a:extLst xmlns:a="http://schemas.openxmlformats.org/drawingml/2006/main">
              <a:ext uri="{FF2B5EF4-FFF2-40B4-BE49-F238E27FC236}">
                <a16:creationId xmlns:a16="http://schemas.microsoft.com/office/drawing/2014/main" id="{0C14AAAE-2565-4098-888F-5B35B0940823}"/>
              </a:ext>
            </a:extLst>
          </p:cNvPr>
          <p:cNvSpPr>
            <a:spLocks xmlns:a="http://schemas.openxmlformats.org/drawingml/2006/main" noGrp="1"/>
          </p:cNvSpPr>
          <p:nvPr/>
        </p:nvSpPr>
        <p:spPr>
          <a:xfrm xmlns:a="http://schemas.openxmlformats.org/drawingml/2006/main">
            <a:off x="1609725" y="4610100"/>
            <a:ext cx="61912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F6F5F1"/>
                </a:solidFill>
                <a:latin typeface="Newsreader"/>
                <a:ea typeface="Newsreader"/>
                <a:cs typeface="Newsreader"/>
              </a:defRPr>
            </a:pPr>
            <a:r>
              <a:rPr sz="2850" b="0">
                <a:solidFill>
                  <a:srgbClr val="F6F5F1"/>
                </a:solidFill>
                <a:latin typeface="Newsreader"/>
                <a:ea typeface="Newsreader"/>
                <a:cs typeface="Newsreader"/>
              </a:rPr>
              <a:t>Korrigieren</a:t>
            </a:r>
          </a:p>
        </p:txBody>
      </p:sp>
      <p:sp>
        <p:nvSpPr>
          <p:cNvPr id="11" name="">
            <a:extLst xmlns:a="http://schemas.openxmlformats.org/drawingml/2006/main">
              <a:ext uri="{FF2B5EF4-FFF2-40B4-BE49-F238E27FC236}">
                <a16:creationId xmlns:a16="http://schemas.microsoft.com/office/drawing/2014/main" id="{AF855224-CB03-48F1-9F24-51AC3ACC1182}"/>
              </a:ext>
            </a:extLst>
          </p:cNvPr>
          <p:cNvSpPr>
            <a:spLocks xmlns:a="http://schemas.openxmlformats.org/drawingml/2006/main" noGrp="1"/>
          </p:cNvSpPr>
          <p:nvPr/>
        </p:nvSpPr>
        <p:spPr>
          <a:xfrm xmlns:a="http://schemas.openxmlformats.org/drawingml/2006/main">
            <a:off x="1628775" y="5210175"/>
            <a:ext cx="6238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DCEBE2"/>
                </a:solidFill>
                <a:latin typeface="Inter"/>
                <a:ea typeface="Inter"/>
                <a:cs typeface="Inter"/>
              </a:defRPr>
            </a:pPr>
            <a:r>
              <a:rPr sz="1875" b="0">
                <a:solidFill>
                  <a:srgbClr val="DCEBE2"/>
                </a:solidFill>
                <a:latin typeface="Inter"/>
                <a:ea typeface="Inter"/>
                <a:cs typeface="Inter"/>
              </a:rPr>
              <a:t>Bearbeiten, löschen und rückgängig</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6e959dc4f8304831"/>
          <a:stretch xmlns:a="http://schemas.openxmlformats.org/drawingml/2006/main"/>
        </p:blipFill>
        <p:spPr>
          <a:xfrm xmlns:a="http://schemas.openxmlformats.org/drawingml/2006/main">
            <a:off x="8726535" y="1409700"/>
            <a:ext cx="2225581" cy="4838700"/>
          </a:xfrm>
          <a:prstGeom xmlns:a="http://schemas.openxmlformats.org/drawingml/2006/main" prst="rect">
            <a:avLst/>
          </a:prstGeom>
        </p:spPr>
      </p:pic>
    </p:spTree>
    <p:extLst>
      <p:ext uri="{BB962C8B-B14F-4D97-AF65-F5344CB8AC3E}">
        <p14:creationId xmlns:p14="http://schemas.microsoft.com/office/powerpoint/2010/main" val="443689025"/>
      </p:ext>
    </p:extLst>
  </p:cSld>
</p:sld>
</file>

<file path=ppt/slides/slide5.xml><?xml version="1.0" encoding="utf-8"?>
<p:sld xmlns:p="http://schemas.openxmlformats.org/presentationml/2006/main">
  <p:cSld>
    <p:bg>
      <p:bgPr>
        <a:solidFill xmlns:a="http://schemas.openxmlformats.org/drawingml/2006/main">
          <a:srgbClr val="F6F5F1"/>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FA63C0C-960B-4057-B7EA-8034A1DFF560}"/>
              </a:ext>
            </a:extLst>
          </p:cNvPr>
          <p:cNvSpPr>
            <a:spLocks xmlns:a="http://schemas.openxmlformats.org/drawingml/2006/main" noGrp="1"/>
          </p:cNvSpPr>
          <p:nvPr/>
        </p:nvSpPr>
        <p:spPr>
          <a:xfrm xmlns:a="http://schemas.openxmlformats.org/drawingml/2006/main">
            <a:off x="11334750" y="6296025"/>
            <a:ext cx="3333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6E6D68"/>
                </a:solidFill>
                <a:latin typeface="Inter"/>
                <a:ea typeface="Inter"/>
                <a:cs typeface="Inter"/>
              </a:defRPr>
            </a:pPr>
            <a:r>
              <a:rPr sz="1275" b="0">
                <a:solidFill>
                  <a:srgbClr val="6E6D68"/>
                </a:solidFill>
                <a:latin typeface="Inter"/>
                <a:ea typeface="Inter"/>
                <a:cs typeface="Inter"/>
              </a:rPr>
              <a:t>5</a:t>
            </a:r>
          </a:p>
        </p:txBody>
      </p:sp>
      <p:sp>
        <p:nvSpPr>
          <p:cNvPr id="2" name="">
            <a:extLst xmlns:a="http://schemas.openxmlformats.org/drawingml/2006/main">
              <a:ext uri="{FF2B5EF4-FFF2-40B4-BE49-F238E27FC236}">
                <a16:creationId xmlns:a16="http://schemas.microsoft.com/office/drawing/2014/main" id="{B9B9030D-C564-4492-AF5A-8B0CD7CF8205}"/>
              </a:ext>
            </a:extLst>
          </p:cNvPr>
          <p:cNvSpPr>
            <a:spLocks xmlns:a="http://schemas.openxmlformats.org/drawingml/2006/main" noGrp="1"/>
          </p:cNvSpPr>
          <p:nvPr/>
        </p:nvSpPr>
        <p:spPr>
          <a:xfrm xmlns:a="http://schemas.openxmlformats.org/drawingml/2006/main">
            <a:off x="609600" y="476250"/>
            <a:ext cx="10934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75" b="0">
                <a:solidFill>
                  <a:srgbClr val="15171A"/>
                </a:solidFill>
                <a:latin typeface="Newsreader"/>
                <a:ea typeface="Newsreader"/>
                <a:cs typeface="Newsreader"/>
              </a:defRPr>
            </a:pPr>
            <a:r>
              <a:rPr sz="3975" b="0">
                <a:solidFill>
                  <a:srgbClr val="15171A"/>
                </a:solidFill>
                <a:latin typeface="Newsreader"/>
                <a:ea typeface="Newsreader"/>
                <a:cs typeface="Newsreader"/>
              </a:rPr>
              <a:t>Biometrische App-Sperre</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06270efb88894c9d"/>
          <a:stretch xmlns:a="http://schemas.openxmlformats.org/drawingml/2006/main"/>
        </p:blipFill>
        <p:spPr>
          <a:xfrm xmlns:a="http://schemas.openxmlformats.org/drawingml/2006/main">
            <a:off x="928121" y="1600200"/>
            <a:ext cx="2010908" cy="43719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3AD83F6-8A2D-4F11-95D1-8EE9C9D05287}"/>
              </a:ext>
            </a:extLst>
          </p:cNvPr>
          <p:cNvSpPr>
            <a:spLocks xmlns:a="http://schemas.openxmlformats.org/drawingml/2006/main" noGrp="1"/>
          </p:cNvSpPr>
          <p:nvPr/>
        </p:nvSpPr>
        <p:spPr>
          <a:xfrm xmlns:a="http://schemas.openxmlformats.org/drawingml/2006/main">
            <a:off x="4048125" y="1762125"/>
            <a:ext cx="71818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F5A45"/>
                </a:solidFill>
                <a:latin typeface="Newsreader"/>
                <a:ea typeface="Newsreader"/>
                <a:cs typeface="Newsreader"/>
              </a:defRPr>
            </a:pPr>
            <a:r>
              <a:rPr sz="3000" b="0">
                <a:solidFill>
                  <a:srgbClr val="1F5A45"/>
                </a:solidFill>
                <a:latin typeface="Newsreader"/>
                <a:ea typeface="Newsreader"/>
                <a:cs typeface="Newsreader"/>
              </a:rPr>
              <a:t>Das Gerät prüft die Person</a:t>
            </a:r>
          </a:p>
        </p:txBody>
      </p:sp>
      <p:sp>
        <p:nvSpPr>
          <p:cNvPr id="5" name="">
            <a:extLst xmlns:a="http://schemas.openxmlformats.org/drawingml/2006/main">
              <a:ext uri="{FF2B5EF4-FFF2-40B4-BE49-F238E27FC236}">
                <a16:creationId xmlns:a16="http://schemas.microsoft.com/office/drawing/2014/main" id="{2B4A0CEB-A1F2-46B6-A0A8-AC993FF54F4A}"/>
              </a:ext>
            </a:extLst>
          </p:cNvPr>
          <p:cNvSpPr>
            <a:spLocks xmlns:a="http://schemas.openxmlformats.org/drawingml/2006/main" noGrp="1"/>
          </p:cNvSpPr>
          <p:nvPr/>
        </p:nvSpPr>
        <p:spPr>
          <a:xfrm xmlns:a="http://schemas.openxmlformats.org/drawingml/2006/main">
            <a:off x="4095750" y="2790825"/>
            <a:ext cx="719137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5171A"/>
                </a:solidFill>
                <a:latin typeface="Inter"/>
                <a:ea typeface="Inter"/>
                <a:cs typeface="Inter"/>
              </a:defRPr>
            </a:pPr>
            <a:r>
              <a:rPr sz="2250" b="0">
                <a:solidFill>
                  <a:srgbClr val="15171A"/>
                </a:solidFill>
                <a:latin typeface="Inter"/>
                <a:ea typeface="Inter"/>
                <a:cs typeface="Inter"/>
              </a:rPr>
              <a:t>Spendly fragt das Betriebssystem an.</a:t>
            </a:r>
          </a:p>
          <a:p xmlns:a="http://schemas.openxmlformats.org/drawingml/2006/main">
            <a:pPr algn="l">
              <a:defRPr sz="2250" b="0">
                <a:solidFill>
                  <a:srgbClr val="15171A"/>
                </a:solidFill>
                <a:latin typeface="Inter"/>
                <a:ea typeface="Inter"/>
                <a:cs typeface="Inter"/>
              </a:defRPr>
            </a:pPr>
            <a:r>
              <a:rPr sz="2250" b="0">
                <a:solidFill>
                  <a:srgbClr val="15171A"/>
                </a:solidFill>
                <a:latin typeface="Inter"/>
                <a:ea typeface="Inter"/>
                <a:cs typeface="Inter"/>
              </a:rPr>
              <a:t>Face ID oder Fingerabdruck prüft den Zugang.</a:t>
            </a:r>
          </a:p>
          <a:p xmlns:a="http://schemas.openxmlformats.org/drawingml/2006/main">
            <a:pPr algn="l">
              <a:defRPr sz="2250" b="0">
                <a:solidFill>
                  <a:srgbClr val="15171A"/>
                </a:solidFill>
                <a:latin typeface="Inter"/>
                <a:ea typeface="Inter"/>
                <a:cs typeface="Inter"/>
              </a:defRPr>
            </a:pPr>
            <a:r>
              <a:rPr sz="2250" b="0">
                <a:solidFill>
                  <a:srgbClr val="15171A"/>
                </a:solidFill>
                <a:latin typeface="Inter"/>
                <a:ea typeface="Inter"/>
                <a:cs typeface="Inter"/>
              </a:rPr>
              <a:t>Die App erhält das Ergebnis.</a:t>
            </a:r>
          </a:p>
        </p:txBody>
      </p:sp>
      <p:sp>
        <p:nvSpPr>
          <p:cNvPr id="6" name="">
            <a:extLst xmlns:a="http://schemas.openxmlformats.org/drawingml/2006/main">
              <a:ext uri="{FF2B5EF4-FFF2-40B4-BE49-F238E27FC236}">
                <a16:creationId xmlns:a16="http://schemas.microsoft.com/office/drawing/2014/main" id="{00C9839F-1850-428C-A126-433F0233B337}"/>
              </a:ext>
            </a:extLst>
          </p:cNvPr>
          <p:cNvSpPr>
            <a:spLocks xmlns:a="http://schemas.openxmlformats.org/drawingml/2006/main" noGrp="1"/>
          </p:cNvSpPr>
          <p:nvPr/>
        </p:nvSpPr>
        <p:spPr>
          <a:xfrm xmlns:a="http://schemas.openxmlformats.org/drawingml/2006/main">
            <a:off x="4095750" y="4857750"/>
            <a:ext cx="7191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F5A45"/>
                </a:solidFill>
                <a:latin typeface="Inter"/>
                <a:ea typeface="Inter"/>
                <a:cs typeface="Inter"/>
              </a:defRPr>
            </a:pPr>
            <a:r>
              <a:rPr sz="2100" b="0">
                <a:solidFill>
                  <a:srgbClr val="1F5A45"/>
                </a:solidFill>
                <a:latin typeface="Inter"/>
                <a:ea typeface="Inter"/>
                <a:cs typeface="Inter"/>
              </a:rPr>
              <a:t>Alternativ: eigener 6-stelliger App-Code</a:t>
            </a:r>
          </a:p>
        </p:txBody>
      </p:sp>
      <p:sp>
        <p:nvSpPr>
          <p:cNvPr id="7" name="">
            <a:extLst xmlns:a="http://schemas.openxmlformats.org/drawingml/2006/main">
              <a:ext uri="{FF2B5EF4-FFF2-40B4-BE49-F238E27FC236}">
                <a16:creationId xmlns:a16="http://schemas.microsoft.com/office/drawing/2014/main" id="{8CFB3388-62CA-4727-BCAE-59E6D8C818E5}"/>
              </a:ext>
            </a:extLst>
          </p:cNvPr>
          <p:cNvSpPr>
            <a:spLocks xmlns:a="http://schemas.openxmlformats.org/drawingml/2006/main" noGrp="1"/>
          </p:cNvSpPr>
          <p:nvPr/>
        </p:nvSpPr>
        <p:spPr>
          <a:xfrm xmlns:a="http://schemas.openxmlformats.org/drawingml/2006/main">
            <a:off x="4095750" y="5562600"/>
            <a:ext cx="7191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E6D68"/>
                </a:solidFill>
                <a:latin typeface="Inter"/>
                <a:ea typeface="Inter"/>
                <a:cs typeface="Inter"/>
              </a:defRPr>
            </a:pPr>
            <a:r>
              <a:rPr sz="1650" b="0">
                <a:solidFill>
                  <a:srgbClr val="6E6D68"/>
                </a:solidFill>
                <a:latin typeface="Inter"/>
                <a:ea typeface="Inter"/>
                <a:cs typeface="Inter"/>
              </a:rPr>
              <a:t>Face ID im Simulator geprüft · echter Scan offen</a:t>
            </a:r>
          </a:p>
        </p:txBody>
      </p:sp>
    </p:spTree>
    <p:extLst>
      <p:ext uri="{BB962C8B-B14F-4D97-AF65-F5344CB8AC3E}">
        <p14:creationId xmlns:p14="http://schemas.microsoft.com/office/powerpoint/2010/main" val="925703176"/>
      </p:ext>
    </p:extLst>
  </p:cSld>
</p:sld>
</file>

<file path=ppt/slides/slide6.xml><?xml version="1.0" encoding="utf-8"?>
<p:sld xmlns:p="http://schemas.openxmlformats.org/presentationml/2006/main">
  <p:cSld>
    <p:bg>
      <p:bgPr>
        <a:solidFill xmlns:a="http://schemas.openxmlformats.org/drawingml/2006/main">
          <a:srgbClr val="F6F5F1"/>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A72105B5-5476-4797-AF78-13BD4DE60990}"/>
              </a:ext>
            </a:extLst>
          </p:cNvPr>
          <p:cNvSpPr>
            <a:spLocks xmlns:a="http://schemas.openxmlformats.org/drawingml/2006/main" noGrp="1"/>
          </p:cNvSpPr>
          <p:nvPr/>
        </p:nvSpPr>
        <p:spPr>
          <a:xfrm xmlns:a="http://schemas.openxmlformats.org/drawingml/2006/main">
            <a:off x="11334750" y="6296025"/>
            <a:ext cx="3333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6E6D68"/>
                </a:solidFill>
                <a:latin typeface="Inter"/>
                <a:ea typeface="Inter"/>
                <a:cs typeface="Inter"/>
              </a:defRPr>
            </a:pPr>
            <a:r>
              <a:rPr sz="1275" b="0">
                <a:solidFill>
                  <a:srgbClr val="6E6D68"/>
                </a:solidFill>
                <a:latin typeface="Inter"/>
                <a:ea typeface="Inter"/>
                <a:cs typeface="Inter"/>
              </a:rPr>
              <a:t>6</a:t>
            </a:r>
          </a:p>
        </p:txBody>
      </p:sp>
      <p:sp>
        <p:nvSpPr>
          <p:cNvPr id="2" name="">
            <a:extLst xmlns:a="http://schemas.openxmlformats.org/drawingml/2006/main">
              <a:ext uri="{FF2B5EF4-FFF2-40B4-BE49-F238E27FC236}">
                <a16:creationId xmlns:a16="http://schemas.microsoft.com/office/drawing/2014/main" id="{437CAFB6-10BD-4742-A077-7A5A502920A8}"/>
              </a:ext>
            </a:extLst>
          </p:cNvPr>
          <p:cNvSpPr>
            <a:spLocks xmlns:a="http://schemas.openxmlformats.org/drawingml/2006/main" noGrp="1"/>
          </p:cNvSpPr>
          <p:nvPr/>
        </p:nvSpPr>
        <p:spPr>
          <a:xfrm xmlns:a="http://schemas.openxmlformats.org/drawingml/2006/main">
            <a:off x="609600" y="476250"/>
            <a:ext cx="10934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75" b="0">
                <a:solidFill>
                  <a:srgbClr val="15171A"/>
                </a:solidFill>
                <a:latin typeface="Newsreader"/>
                <a:ea typeface="Newsreader"/>
                <a:cs typeface="Newsreader"/>
              </a:defRPr>
            </a:pPr>
            <a:r>
              <a:rPr sz="3975" b="0">
                <a:solidFill>
                  <a:srgbClr val="15171A"/>
                </a:solidFill>
                <a:latin typeface="Newsreader"/>
                <a:ea typeface="Newsreader"/>
                <a:cs typeface="Newsreader"/>
              </a:rPr>
              <a:t>Der Weg einer Ausgabe</a:t>
            </a:r>
          </a:p>
        </p:txBody>
      </p:sp>
      <p:sp>
        <p:nvSpPr>
          <p:cNvPr id="3" name="">
            <a:extLst xmlns:a="http://schemas.openxmlformats.org/drawingml/2006/main">
              <a:ext uri="{FF2B5EF4-FFF2-40B4-BE49-F238E27FC236}">
                <a16:creationId xmlns:a16="http://schemas.microsoft.com/office/drawing/2014/main" id="{420BF2D3-BFA5-40FB-BD29-70442A98C040}"/>
              </a:ext>
            </a:extLst>
          </p:cNvPr>
          <p:cNvSpPr>
            <a:spLocks xmlns:a="http://schemas.openxmlformats.org/drawingml/2006/main" noGrp="1"/>
          </p:cNvSpPr>
          <p:nvPr/>
        </p:nvSpPr>
        <p:spPr>
          <a:xfrm xmlns:a="http://schemas.openxmlformats.org/drawingml/2006/main">
            <a:off x="609600" y="1438275"/>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F5A45"/>
                </a:solidFill>
                <a:latin typeface="Inter"/>
                <a:ea typeface="Inter"/>
                <a:cs typeface="Inter"/>
              </a:defRPr>
            </a:pPr>
            <a:r>
              <a:rPr sz="1875" b="1">
                <a:solidFill>
                  <a:srgbClr val="1F5A45"/>
                </a:solidFill>
                <a:latin typeface="Inter"/>
                <a:ea typeface="Inter"/>
                <a:cs typeface="Inter"/>
              </a:rPr>
              <a:t>React Native + Expo</a:t>
            </a:r>
          </a:p>
        </p:txBody>
      </p:sp>
      <p:sp>
        <p:nvSpPr>
          <p:cNvPr id="4" name="">
            <a:extLst xmlns:a="http://schemas.openxmlformats.org/drawingml/2006/main">
              <a:ext uri="{FF2B5EF4-FFF2-40B4-BE49-F238E27FC236}">
                <a16:creationId xmlns:a16="http://schemas.microsoft.com/office/drawing/2014/main" id="{AFC23572-0087-4B2A-A9C2-19E2FC6428E5}"/>
              </a:ext>
            </a:extLst>
          </p:cNvPr>
          <p:cNvSpPr>
            <a:spLocks xmlns:a="http://schemas.openxmlformats.org/drawingml/2006/main" noGrp="1"/>
          </p:cNvSpPr>
          <p:nvPr/>
        </p:nvSpPr>
        <p:spPr>
          <a:xfrm xmlns:a="http://schemas.openxmlformats.org/drawingml/2006/main">
            <a:off x="628650" y="2200275"/>
            <a:ext cx="4953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F5A45"/>
                </a:solidFill>
                <a:latin typeface="Newsreader"/>
                <a:ea typeface="Newsreader"/>
                <a:cs typeface="Newsreader"/>
              </a:defRPr>
            </a:pPr>
            <a:r>
              <a:rPr sz="2700" b="0">
                <a:solidFill>
                  <a:srgbClr val="1F5A45"/>
                </a:solidFill>
                <a:latin typeface="Newsreader"/>
                <a:ea typeface="Newsreader"/>
                <a:cs typeface="Newsreader"/>
              </a:rPr>
              <a:t>1</a:t>
            </a:r>
          </a:p>
        </p:txBody>
      </p:sp>
      <p:sp>
        <p:nvSpPr>
          <p:cNvPr id="5" name="">
            <a:extLst xmlns:a="http://schemas.openxmlformats.org/drawingml/2006/main">
              <a:ext uri="{FF2B5EF4-FFF2-40B4-BE49-F238E27FC236}">
                <a16:creationId xmlns:a16="http://schemas.microsoft.com/office/drawing/2014/main" id="{F79F8DCA-E2A0-48FE-98D9-49937431801C}"/>
              </a:ext>
            </a:extLst>
          </p:cNvPr>
          <p:cNvSpPr>
            <a:spLocks xmlns:a="http://schemas.openxmlformats.org/drawingml/2006/main" noGrp="1"/>
          </p:cNvSpPr>
          <p:nvPr/>
        </p:nvSpPr>
        <p:spPr>
          <a:xfrm xmlns:a="http://schemas.openxmlformats.org/drawingml/2006/main">
            <a:off x="1343025" y="2200275"/>
            <a:ext cx="981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5171A"/>
                </a:solidFill>
                <a:latin typeface="Inter"/>
                <a:ea typeface="Inter"/>
                <a:cs typeface="Inter"/>
              </a:defRPr>
            </a:pPr>
            <a:r>
              <a:rPr sz="2175" b="0">
                <a:solidFill>
                  <a:srgbClr val="15171A"/>
                </a:solidFill>
                <a:latin typeface="Inter"/>
                <a:ea typeface="Inter"/>
                <a:cs typeface="Inter"/>
              </a:rPr>
              <a:t>Formular prüft Eingaben</a:t>
            </a:r>
          </a:p>
        </p:txBody>
      </p:sp>
      <p:sp>
        <p:nvSpPr>
          <p:cNvPr id="6" name="">
            <a:extLst xmlns:a="http://schemas.openxmlformats.org/drawingml/2006/main">
              <a:ext uri="{FF2B5EF4-FFF2-40B4-BE49-F238E27FC236}">
                <a16:creationId xmlns:a16="http://schemas.microsoft.com/office/drawing/2014/main" id="{62DB6AC1-200D-48CE-B48D-5033527BB535}"/>
              </a:ext>
            </a:extLst>
          </p:cNvPr>
          <p:cNvSpPr>
            <a:spLocks xmlns:a="http://schemas.openxmlformats.org/drawingml/2006/main" noGrp="1"/>
          </p:cNvSpPr>
          <p:nvPr/>
        </p:nvSpPr>
        <p:spPr>
          <a:xfrm xmlns:a="http://schemas.openxmlformats.org/drawingml/2006/main">
            <a:off x="1362075" y="2619375"/>
            <a:ext cx="9525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6E6D68"/>
                </a:solidFill>
                <a:latin typeface="Inter"/>
                <a:ea typeface="Inter"/>
                <a:cs typeface="Inter"/>
              </a:defRPr>
            </a:pPr>
            <a:r>
              <a:rPr sz="1575" b="0">
                <a:solidFill>
                  <a:srgbClr val="6E6D68"/>
                </a:solidFill>
                <a:latin typeface="Inter"/>
                <a:ea typeface="Inter"/>
                <a:cs typeface="Inter"/>
              </a:rPr>
              <a:t>NewExpenseScreen + validateExpense</a:t>
            </a:r>
          </a:p>
        </p:txBody>
      </p:sp>
      <p:sp>
        <p:nvSpPr>
          <p:cNvPr id="7" name="">
            <a:extLst xmlns:a="http://schemas.openxmlformats.org/drawingml/2006/main">
              <a:ext uri="{FF2B5EF4-FFF2-40B4-BE49-F238E27FC236}">
                <a16:creationId xmlns:a16="http://schemas.microsoft.com/office/drawing/2014/main" id="{AD39DCC4-4D70-4F0B-9D53-24D8FEC66E4D}"/>
              </a:ext>
            </a:extLst>
          </p:cNvPr>
          <p:cNvSpPr>
            <a:spLocks xmlns:a="http://schemas.openxmlformats.org/drawingml/2006/main" noGrp="1"/>
          </p:cNvSpPr>
          <p:nvPr/>
        </p:nvSpPr>
        <p:spPr>
          <a:xfrm xmlns:a="http://schemas.openxmlformats.org/drawingml/2006/main">
            <a:off x="628650" y="3048000"/>
            <a:ext cx="4953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F5A45"/>
                </a:solidFill>
                <a:latin typeface="Newsreader"/>
                <a:ea typeface="Newsreader"/>
                <a:cs typeface="Newsreader"/>
              </a:defRPr>
            </a:pPr>
            <a:r>
              <a:rPr sz="2700" b="0">
                <a:solidFill>
                  <a:srgbClr val="1F5A45"/>
                </a:solidFill>
                <a:latin typeface="Newsreader"/>
                <a:ea typeface="Newsreader"/>
                <a:cs typeface="Newsreader"/>
              </a:rPr>
              <a:t>2</a:t>
            </a:r>
          </a:p>
        </p:txBody>
      </p:sp>
      <p:sp>
        <p:nvSpPr>
          <p:cNvPr id="8" name="">
            <a:extLst xmlns:a="http://schemas.openxmlformats.org/drawingml/2006/main">
              <a:ext uri="{FF2B5EF4-FFF2-40B4-BE49-F238E27FC236}">
                <a16:creationId xmlns:a16="http://schemas.microsoft.com/office/drawing/2014/main" id="{E56C1F6D-A070-46A2-A6DF-5C539D4FA7A0}"/>
              </a:ext>
            </a:extLst>
          </p:cNvPr>
          <p:cNvSpPr>
            <a:spLocks xmlns:a="http://schemas.openxmlformats.org/drawingml/2006/main" noGrp="1"/>
          </p:cNvSpPr>
          <p:nvPr/>
        </p:nvSpPr>
        <p:spPr>
          <a:xfrm xmlns:a="http://schemas.openxmlformats.org/drawingml/2006/main">
            <a:off x="1343025" y="3048000"/>
            <a:ext cx="981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5171A"/>
                </a:solidFill>
                <a:latin typeface="Inter"/>
                <a:ea typeface="Inter"/>
                <a:cs typeface="Inter"/>
              </a:defRPr>
            </a:pPr>
            <a:r>
              <a:rPr sz="2175" b="0">
                <a:solidFill>
                  <a:srgbClr val="15171A"/>
                </a:solidFill>
                <a:latin typeface="Inter"/>
                <a:ea typeface="Inter"/>
                <a:cs typeface="Inter"/>
              </a:rPr>
              <a:t>Context koordiniert die Änderung</a:t>
            </a:r>
          </a:p>
        </p:txBody>
      </p:sp>
      <p:sp>
        <p:nvSpPr>
          <p:cNvPr id="9" name="">
            <a:extLst xmlns:a="http://schemas.openxmlformats.org/drawingml/2006/main">
              <a:ext uri="{FF2B5EF4-FFF2-40B4-BE49-F238E27FC236}">
                <a16:creationId xmlns:a16="http://schemas.microsoft.com/office/drawing/2014/main" id="{365C5A58-E7C4-43D1-8A36-CF48A79EC0DE}"/>
              </a:ext>
            </a:extLst>
          </p:cNvPr>
          <p:cNvSpPr>
            <a:spLocks xmlns:a="http://schemas.openxmlformats.org/drawingml/2006/main" noGrp="1"/>
          </p:cNvSpPr>
          <p:nvPr/>
        </p:nvSpPr>
        <p:spPr>
          <a:xfrm xmlns:a="http://schemas.openxmlformats.org/drawingml/2006/main">
            <a:off x="1362075" y="3467100"/>
            <a:ext cx="9525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6E6D68"/>
                </a:solidFill>
                <a:latin typeface="Inter"/>
                <a:ea typeface="Inter"/>
                <a:cs typeface="Inter"/>
              </a:defRPr>
            </a:pPr>
            <a:r>
              <a:rPr sz="1575" b="0">
                <a:solidFill>
                  <a:srgbClr val="6E6D68"/>
                </a:solidFill>
                <a:latin typeface="Inter"/>
                <a:ea typeface="Inter"/>
                <a:cs typeface="Inter"/>
              </a:rPr>
              <a:t>DataContext</a:t>
            </a:r>
          </a:p>
        </p:txBody>
      </p:sp>
      <p:sp>
        <p:nvSpPr>
          <p:cNvPr id="10" name="">
            <a:extLst xmlns:a="http://schemas.openxmlformats.org/drawingml/2006/main">
              <a:ext uri="{FF2B5EF4-FFF2-40B4-BE49-F238E27FC236}">
                <a16:creationId xmlns:a16="http://schemas.microsoft.com/office/drawing/2014/main" id="{A3894776-FE4A-4F2E-A97D-C3B72E5FE465}"/>
              </a:ext>
            </a:extLst>
          </p:cNvPr>
          <p:cNvSpPr>
            <a:spLocks xmlns:a="http://schemas.openxmlformats.org/drawingml/2006/main" noGrp="1"/>
          </p:cNvSpPr>
          <p:nvPr/>
        </p:nvSpPr>
        <p:spPr>
          <a:xfrm xmlns:a="http://schemas.openxmlformats.org/drawingml/2006/main">
            <a:off x="628650" y="3895725"/>
            <a:ext cx="4953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F5A45"/>
                </a:solidFill>
                <a:latin typeface="Newsreader"/>
                <a:ea typeface="Newsreader"/>
                <a:cs typeface="Newsreader"/>
              </a:defRPr>
            </a:pPr>
            <a:r>
              <a:rPr sz="2700" b="0">
                <a:solidFill>
                  <a:srgbClr val="1F5A45"/>
                </a:solidFill>
                <a:latin typeface="Newsreader"/>
                <a:ea typeface="Newsreader"/>
                <a:cs typeface="Newsreader"/>
              </a:rPr>
              <a:t>3</a:t>
            </a:r>
          </a:p>
        </p:txBody>
      </p:sp>
      <p:sp>
        <p:nvSpPr>
          <p:cNvPr id="11" name="">
            <a:extLst xmlns:a="http://schemas.openxmlformats.org/drawingml/2006/main">
              <a:ext uri="{FF2B5EF4-FFF2-40B4-BE49-F238E27FC236}">
                <a16:creationId xmlns:a16="http://schemas.microsoft.com/office/drawing/2014/main" id="{916DAC25-F7D0-422D-BD91-72F942083BEE}"/>
              </a:ext>
            </a:extLst>
          </p:cNvPr>
          <p:cNvSpPr>
            <a:spLocks xmlns:a="http://schemas.openxmlformats.org/drawingml/2006/main" noGrp="1"/>
          </p:cNvSpPr>
          <p:nvPr/>
        </p:nvSpPr>
        <p:spPr>
          <a:xfrm xmlns:a="http://schemas.openxmlformats.org/drawingml/2006/main">
            <a:off x="1343025" y="3895725"/>
            <a:ext cx="981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5171A"/>
                </a:solidFill>
                <a:latin typeface="Inter"/>
                <a:ea typeface="Inter"/>
                <a:cs typeface="Inter"/>
              </a:defRPr>
            </a:pPr>
            <a:r>
              <a:rPr sz="2175" b="0">
                <a:solidFill>
                  <a:srgbClr val="15171A"/>
                </a:solidFill>
                <a:latin typeface="Inter"/>
                <a:ea typeface="Inter"/>
                <a:cs typeface="Inter"/>
              </a:rPr>
              <a:t>SQLite speichert den Eintrag</a:t>
            </a:r>
          </a:p>
        </p:txBody>
      </p:sp>
      <p:sp>
        <p:nvSpPr>
          <p:cNvPr id="12" name="">
            <a:extLst xmlns:a="http://schemas.openxmlformats.org/drawingml/2006/main">
              <a:ext uri="{FF2B5EF4-FFF2-40B4-BE49-F238E27FC236}">
                <a16:creationId xmlns:a16="http://schemas.microsoft.com/office/drawing/2014/main" id="{9D2E9B2E-F109-48A3-87FD-CDE921AB159F}"/>
              </a:ext>
            </a:extLst>
          </p:cNvPr>
          <p:cNvSpPr>
            <a:spLocks xmlns:a="http://schemas.openxmlformats.org/drawingml/2006/main" noGrp="1"/>
          </p:cNvSpPr>
          <p:nvPr/>
        </p:nvSpPr>
        <p:spPr>
          <a:xfrm xmlns:a="http://schemas.openxmlformats.org/drawingml/2006/main">
            <a:off x="1362075" y="4314825"/>
            <a:ext cx="9525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6E6D68"/>
                </a:solidFill>
                <a:latin typeface="Inter"/>
                <a:ea typeface="Inter"/>
                <a:cs typeface="Inter"/>
              </a:defRPr>
            </a:pPr>
            <a:r>
              <a:rPr sz="1575" b="0">
                <a:solidFill>
                  <a:srgbClr val="6E6D68"/>
                </a:solidFill>
                <a:latin typeface="Inter"/>
                <a:ea typeface="Inter"/>
                <a:cs typeface="Inter"/>
              </a:rPr>
              <a:t>expenses.js + db.js</a:t>
            </a:r>
          </a:p>
        </p:txBody>
      </p:sp>
      <p:sp>
        <p:nvSpPr>
          <p:cNvPr id="13" name="">
            <a:extLst xmlns:a="http://schemas.openxmlformats.org/drawingml/2006/main">
              <a:ext uri="{FF2B5EF4-FFF2-40B4-BE49-F238E27FC236}">
                <a16:creationId xmlns:a16="http://schemas.microsoft.com/office/drawing/2014/main" id="{0627361B-3A21-4E5E-ADC1-66AD8EA645B0}"/>
              </a:ext>
            </a:extLst>
          </p:cNvPr>
          <p:cNvSpPr>
            <a:spLocks xmlns:a="http://schemas.openxmlformats.org/drawingml/2006/main" noGrp="1"/>
          </p:cNvSpPr>
          <p:nvPr/>
        </p:nvSpPr>
        <p:spPr>
          <a:xfrm xmlns:a="http://schemas.openxmlformats.org/drawingml/2006/main">
            <a:off x="628650" y="4743450"/>
            <a:ext cx="4953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F5A45"/>
                </a:solidFill>
                <a:latin typeface="Newsreader"/>
                <a:ea typeface="Newsreader"/>
                <a:cs typeface="Newsreader"/>
              </a:defRPr>
            </a:pPr>
            <a:r>
              <a:rPr sz="2700" b="0">
                <a:solidFill>
                  <a:srgbClr val="1F5A45"/>
                </a:solidFill>
                <a:latin typeface="Newsreader"/>
                <a:ea typeface="Newsreader"/>
                <a:cs typeface="Newsreader"/>
              </a:rPr>
              <a:t>4</a:t>
            </a:r>
          </a:p>
        </p:txBody>
      </p:sp>
      <p:sp>
        <p:nvSpPr>
          <p:cNvPr id="14" name="">
            <a:extLst xmlns:a="http://schemas.openxmlformats.org/drawingml/2006/main">
              <a:ext uri="{FF2B5EF4-FFF2-40B4-BE49-F238E27FC236}">
                <a16:creationId xmlns:a16="http://schemas.microsoft.com/office/drawing/2014/main" id="{AEC96999-3334-41AC-BBD8-477CF900639A}"/>
              </a:ext>
            </a:extLst>
          </p:cNvPr>
          <p:cNvSpPr>
            <a:spLocks xmlns:a="http://schemas.openxmlformats.org/drawingml/2006/main" noGrp="1"/>
          </p:cNvSpPr>
          <p:nvPr/>
        </p:nvSpPr>
        <p:spPr>
          <a:xfrm xmlns:a="http://schemas.openxmlformats.org/drawingml/2006/main">
            <a:off x="1343025" y="4743450"/>
            <a:ext cx="981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5171A"/>
                </a:solidFill>
                <a:latin typeface="Inter"/>
                <a:ea typeface="Inter"/>
                <a:cs typeface="Inter"/>
              </a:defRPr>
            </a:pPr>
            <a:r>
              <a:rPr sz="2175" b="0">
                <a:solidFill>
                  <a:srgbClr val="15171A"/>
                </a:solidFill>
                <a:latin typeface="Inter"/>
                <a:ea typeface="Inter"/>
                <a:cs typeface="Inter"/>
              </a:rPr>
              <a:t>Übersicht berechnet das Budget neu</a:t>
            </a:r>
          </a:p>
        </p:txBody>
      </p:sp>
      <p:sp>
        <p:nvSpPr>
          <p:cNvPr id="15" name="">
            <a:extLst xmlns:a="http://schemas.openxmlformats.org/drawingml/2006/main">
              <a:ext uri="{FF2B5EF4-FFF2-40B4-BE49-F238E27FC236}">
                <a16:creationId xmlns:a16="http://schemas.microsoft.com/office/drawing/2014/main" id="{B1E7D155-1E57-43D3-9AD3-560A6CF5616A}"/>
              </a:ext>
            </a:extLst>
          </p:cNvPr>
          <p:cNvSpPr>
            <a:spLocks xmlns:a="http://schemas.openxmlformats.org/drawingml/2006/main" noGrp="1"/>
          </p:cNvSpPr>
          <p:nvPr/>
        </p:nvSpPr>
        <p:spPr>
          <a:xfrm xmlns:a="http://schemas.openxmlformats.org/drawingml/2006/main">
            <a:off x="1362075" y="5162550"/>
            <a:ext cx="9525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6E6D68"/>
                </a:solidFill>
                <a:latin typeface="Inter"/>
                <a:ea typeface="Inter"/>
                <a:cs typeface="Inter"/>
              </a:defRPr>
            </a:pPr>
            <a:r>
              <a:rPr sz="1575" b="0">
                <a:solidFill>
                  <a:srgbClr val="6E6D68"/>
                </a:solidFill>
                <a:latin typeface="Inter"/>
                <a:ea typeface="Inter"/>
                <a:cs typeface="Inter"/>
              </a:rPr>
              <a:t>OverviewScreen + getBudgetStatus</a:t>
            </a:r>
          </a:p>
        </p:txBody>
      </p:sp>
      <p:sp>
        <p:nvSpPr>
          <p:cNvPr id="16" name="">
            <a:extLst xmlns:a="http://schemas.openxmlformats.org/drawingml/2006/main">
              <a:ext uri="{FF2B5EF4-FFF2-40B4-BE49-F238E27FC236}">
                <a16:creationId xmlns:a16="http://schemas.microsoft.com/office/drawing/2014/main" id="{1597DC7C-FAD4-4FBD-881D-EF604F14FAF4}"/>
              </a:ext>
            </a:extLst>
          </p:cNvPr>
          <p:cNvSpPr>
            <a:spLocks xmlns:a="http://schemas.openxmlformats.org/drawingml/2006/main" noGrp="1"/>
          </p:cNvSpPr>
          <p:nvPr/>
        </p:nvSpPr>
        <p:spPr>
          <a:xfrm xmlns:a="http://schemas.openxmlformats.org/drawingml/2006/main">
            <a:off x="7343775" y="1485900"/>
            <a:ext cx="41243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2025" b="0">
                <a:solidFill>
                  <a:srgbClr val="1F5A45"/>
                </a:solidFill>
                <a:latin typeface="Newsreader"/>
                <a:ea typeface="Newsreader"/>
                <a:cs typeface="Newsreader"/>
              </a:defRPr>
            </a:pPr>
            <a:r>
              <a:rPr sz="2025" b="0">
                <a:solidFill>
                  <a:srgbClr val="1F5A45"/>
                </a:solidFill>
                <a:latin typeface="Newsreader"/>
                <a:ea typeface="Newsreader"/>
                <a:cs typeface="Newsreader"/>
              </a:rPr>
              <a:t>CHF 14.80 = 1480 Rappen</a:t>
            </a:r>
          </a:p>
        </p:txBody>
      </p:sp>
    </p:spTree>
    <p:extLst>
      <p:ext uri="{BB962C8B-B14F-4D97-AF65-F5344CB8AC3E}">
        <p14:creationId xmlns:p14="http://schemas.microsoft.com/office/powerpoint/2010/main" val="816071995"/>
      </p:ext>
    </p:extLst>
  </p:cSld>
</p:sld>
</file>

<file path=ppt/slides/slide7.xml><?xml version="1.0" encoding="utf-8"?>
<p:sld xmlns:p="http://schemas.openxmlformats.org/presentationml/2006/main">
  <p:cSld>
    <p:bg>
      <p:bgPr>
        <a:solidFill xmlns:a="http://schemas.openxmlformats.org/drawingml/2006/main">
          <a:srgbClr val="F6F5F1"/>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56F8B8F-BB3B-4BED-8B04-22544C2DA07E}"/>
              </a:ext>
            </a:extLst>
          </p:cNvPr>
          <p:cNvSpPr>
            <a:spLocks xmlns:a="http://schemas.openxmlformats.org/drawingml/2006/main" noGrp="1"/>
          </p:cNvSpPr>
          <p:nvPr/>
        </p:nvSpPr>
        <p:spPr>
          <a:xfrm xmlns:a="http://schemas.openxmlformats.org/drawingml/2006/main">
            <a:off x="11334750" y="6296025"/>
            <a:ext cx="3333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6E6D68"/>
                </a:solidFill>
                <a:latin typeface="Inter"/>
                <a:ea typeface="Inter"/>
                <a:cs typeface="Inter"/>
              </a:defRPr>
            </a:pPr>
            <a:r>
              <a:rPr sz="1275" b="0">
                <a:solidFill>
                  <a:srgbClr val="6E6D68"/>
                </a:solidFill>
                <a:latin typeface="Inter"/>
                <a:ea typeface="Inter"/>
                <a:cs typeface="Inter"/>
              </a:rPr>
              <a:t>7</a:t>
            </a:r>
          </a:p>
        </p:txBody>
      </p:sp>
      <p:sp>
        <p:nvSpPr>
          <p:cNvPr id="2" name="">
            <a:extLst xmlns:a="http://schemas.openxmlformats.org/drawingml/2006/main">
              <a:ext uri="{FF2B5EF4-FFF2-40B4-BE49-F238E27FC236}">
                <a16:creationId xmlns:a16="http://schemas.microsoft.com/office/drawing/2014/main" id="{A282006B-0F60-4F4A-8534-0F242F77AF0B}"/>
              </a:ext>
            </a:extLst>
          </p:cNvPr>
          <p:cNvSpPr>
            <a:spLocks xmlns:a="http://schemas.openxmlformats.org/drawingml/2006/main" noGrp="1"/>
          </p:cNvSpPr>
          <p:nvPr/>
        </p:nvSpPr>
        <p:spPr>
          <a:xfrm xmlns:a="http://schemas.openxmlformats.org/drawingml/2006/main">
            <a:off x="609600" y="476250"/>
            <a:ext cx="10934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75" b="0">
                <a:solidFill>
                  <a:srgbClr val="15171A"/>
                </a:solidFill>
                <a:latin typeface="Newsreader"/>
                <a:ea typeface="Newsreader"/>
                <a:cs typeface="Newsreader"/>
              </a:defRPr>
            </a:pPr>
            <a:r>
              <a:rPr sz="3975" b="0">
                <a:solidFill>
                  <a:srgbClr val="15171A"/>
                </a:solidFill>
                <a:latin typeface="Newsreader"/>
                <a:ea typeface="Newsreader"/>
                <a:cs typeface="Newsreader"/>
              </a:rPr>
              <a:t>Konzept und Umsetzung</a:t>
            </a:r>
          </a:p>
        </p:txBody>
      </p:sp>
      <p:graphicFrame>
        <p:nvGraphicFramePr>
          <p:cNvPr id="7" name=""/>
          <p:cNvGraphicFramePr/>
          <p:nvPr/>
        </p:nvGraphicFramePr>
        <p:xfrm>
          <a:off xmlns:a="http://schemas.openxmlformats.org/drawingml/2006/main" x="609600" y="1581150"/>
          <a:ext xmlns:a="http://schemas.openxmlformats.org/drawingml/2006/main" cx="10953750" cy="4038600"/>
        </p:xfrm>
        <a:graphic xmlns:a="http://schemas.openxmlformats.org/drawingml/2006/main">
          <a:graphicData uri="http://schemas.openxmlformats.org/drawingml/2006/table">
            <a:tbl>
              <a:tblPr firstRow="1" bandRow="0"/>
              <a:tblGrid>
                <a:gridCol w="3000375"/>
                <a:gridCol w="3810000"/>
                <a:gridCol w="4143375"/>
              </a:tblGrid>
              <a:tr h="609600">
                <a:tc>
                  <a:txBody>
                    <a:bodyPr/>
                    <a:lstStyle/>
                    <a:p>
                      <a:r>
                        <a:rPr sz="1725" b="1">
                          <a:solidFill>
                            <a:srgbClr val="F6F5F1"/>
                          </a:solidFill>
                          <a:latin typeface="Inter"/>
                          <a:ea typeface="Inter"/>
                          <a:cs typeface="Inter"/>
                        </a:rPr>
                        <a:t>LB1-Konzept</a:t>
                      </a:r>
                    </a:p>
                  </a:txBody>
                  <a:tcPr marL="171450" marR="171450" marT="142875" marB="142875" anchor="ctr">
                    <a:lnL w="0">
                      <a:noFill/>
                    </a:lnL>
                    <a:lnT w="6191">
                      <a:solidFill>
                        <a:srgbClr val="D6D8D0"/>
                      </a:solidFill>
                    </a:lnT>
                    <a:solidFill>
                      <a:srgbClr val="1F5A45"/>
                    </a:solidFill>
                  </a:tcPr>
                </a:tc>
                <a:tc>
                  <a:txBody>
                    <a:bodyPr/>
                    <a:lstStyle/>
                    <a:p>
                      <a:r>
                        <a:rPr sz="1725" b="1">
                          <a:solidFill>
                            <a:srgbClr val="F6F5F1"/>
                          </a:solidFill>
                          <a:latin typeface="Inter"/>
                          <a:ea typeface="Inter"/>
                          <a:cs typeface="Inter"/>
                        </a:rPr>
                        <a:t>App heute</a:t>
                      </a:r>
                    </a:p>
                  </a:txBody>
                  <a:tcPr marL="171450" marR="171450" marT="142875" marB="142875" anchor="ctr">
                    <a:lnT w="6191">
                      <a:solidFill>
                        <a:srgbClr val="D6D8D0"/>
                      </a:solidFill>
                    </a:lnT>
                    <a:solidFill>
                      <a:srgbClr val="1F5A45"/>
                    </a:solidFill>
                  </a:tcPr>
                </a:tc>
                <a:tc>
                  <a:txBody>
                    <a:bodyPr/>
                    <a:lstStyle/>
                    <a:p>
                      <a:r>
                        <a:rPr sz="1725" b="1">
                          <a:solidFill>
                            <a:srgbClr val="F6F5F1"/>
                          </a:solidFill>
                          <a:latin typeface="Inter"/>
                          <a:ea typeface="Inter"/>
                          <a:cs typeface="Inter"/>
                        </a:rPr>
                        <a:t>Einordnung</a:t>
                      </a:r>
                    </a:p>
                  </a:txBody>
                  <a:tcPr marL="171450" marR="171450" marT="142875" marB="142875" anchor="ctr">
                    <a:lnR w="0">
                      <a:noFill/>
                    </a:lnR>
                    <a:lnT w="6191">
                      <a:solidFill>
                        <a:srgbClr val="D6D8D0"/>
                      </a:solidFill>
                    </a:lnT>
                    <a:solidFill>
                      <a:srgbClr val="1F5A45"/>
                    </a:solidFill>
                  </a:tcPr>
                </a:tc>
              </a:tr>
              <a:tr h="857250">
                <a:tc>
                  <a:txBody>
                    <a:bodyPr/>
                    <a:lstStyle/>
                    <a:p>
                      <a:r>
                        <a:rPr sz="1875">
                          <a:solidFill>
                            <a:srgbClr val="15171A"/>
                          </a:solidFill>
                          <a:latin typeface="Inter"/>
                          <a:ea typeface="Inter"/>
                          <a:cs typeface="Inter"/>
                        </a:rPr>
                        <a:t>Budget pro Monat</a:t>
                      </a:r>
                    </a:p>
                  </a:txBody>
                  <a:tcPr marL="171450" marR="171450" marT="142875" marB="142875" anchor="ctr">
                    <a:lnL w="0">
                      <a:noFill/>
                    </a:lnL>
                    <a:solidFill>
                      <a:srgbClr val="F6F5F1"/>
                    </a:solidFill>
                  </a:tcPr>
                </a:tc>
                <a:tc>
                  <a:txBody>
                    <a:bodyPr/>
                    <a:lstStyle/>
                    <a:p>
                      <a:r>
                        <a:rPr sz="1875">
                          <a:solidFill>
                            <a:srgbClr val="15171A"/>
                          </a:solidFill>
                          <a:latin typeface="Inter"/>
                          <a:ea typeface="Inter"/>
                          <a:cs typeface="Inter"/>
                        </a:rPr>
                        <a:t>Monatswerte und Standard</a:t>
                      </a:r>
                    </a:p>
                  </a:txBody>
                  <a:tcPr marL="171450" marR="171450" marT="142875" marB="142875" anchor="ctr">
                    <a:solidFill>
                      <a:srgbClr val="F6F5F1"/>
                    </a:solidFill>
                  </a:tcPr>
                </a:tc>
                <a:tc>
                  <a:txBody>
                    <a:bodyPr/>
                    <a:lstStyle/>
                    <a:p>
                      <a:r>
                        <a:rPr sz="1875">
                          <a:solidFill>
                            <a:srgbClr val="15171A"/>
                          </a:solidFill>
                          <a:latin typeface="Inter"/>
                          <a:ea typeface="Inter"/>
                          <a:cs typeface="Inter"/>
                        </a:rPr>
                        <a:t>Wie geplant</a:t>
                      </a:r>
                    </a:p>
                  </a:txBody>
                  <a:tcPr marL="171450" marR="171450" marT="142875" marB="142875" anchor="ctr">
                    <a:lnR w="0">
                      <a:noFill/>
                    </a:lnR>
                    <a:solidFill>
                      <a:srgbClr val="F6F5F1"/>
                    </a:solidFill>
                  </a:tcPr>
                </a:tc>
              </a:tr>
              <a:tr h="857250">
                <a:tc>
                  <a:txBody>
                    <a:bodyPr/>
                    <a:lstStyle/>
                    <a:p>
                      <a:r>
                        <a:rPr sz="1875">
                          <a:solidFill>
                            <a:srgbClr val="15171A"/>
                          </a:solidFill>
                          <a:latin typeface="Inter"/>
                          <a:ea typeface="Inter"/>
                          <a:cs typeface="Inter"/>
                        </a:rPr>
                        <a:t>Rückgängig für 5 Sekunden</a:t>
                      </a:r>
                    </a:p>
                  </a:txBody>
                  <a:tcPr marL="171450" marR="171450" marT="142875" marB="142875" anchor="ctr">
                    <a:lnL w="0">
                      <a:noFill/>
                    </a:lnL>
                    <a:solidFill>
                      <a:srgbClr val="F6F5F1"/>
                    </a:solidFill>
                  </a:tcPr>
                </a:tc>
                <a:tc>
                  <a:txBody>
                    <a:bodyPr/>
                    <a:lstStyle/>
                    <a:p>
                      <a:r>
                        <a:rPr sz="1875">
                          <a:solidFill>
                            <a:srgbClr val="15171A"/>
                          </a:solidFill>
                          <a:latin typeface="Inter"/>
                          <a:ea typeface="Inter"/>
                          <a:cs typeface="Inter"/>
                        </a:rPr>
                        <a:t>Löschfrist in SQLite</a:t>
                      </a:r>
                    </a:p>
                  </a:txBody>
                  <a:tcPr marL="171450" marR="171450" marT="142875" marB="142875" anchor="ctr">
                    <a:solidFill>
                      <a:srgbClr val="F6F5F1"/>
                    </a:solidFill>
                  </a:tcPr>
                </a:tc>
                <a:tc>
                  <a:txBody>
                    <a:bodyPr/>
                    <a:lstStyle/>
                    <a:p>
                      <a:r>
                        <a:rPr sz="1875">
                          <a:solidFill>
                            <a:srgbClr val="15171A"/>
                          </a:solidFill>
                          <a:latin typeface="Inter"/>
                          <a:ea typeface="Inter"/>
                          <a:cs typeface="Inter"/>
                        </a:rPr>
                        <a:t>Frist bleibt gespeichert</a:t>
                      </a:r>
                    </a:p>
                  </a:txBody>
                  <a:tcPr marL="171450" marR="171450" marT="142875" marB="142875" anchor="ctr">
                    <a:lnR w="0">
                      <a:noFill/>
                    </a:lnR>
                    <a:solidFill>
                      <a:srgbClr val="F6F5F1"/>
                    </a:solidFill>
                  </a:tcPr>
                </a:tc>
              </a:tr>
              <a:tr h="857250">
                <a:tc>
                  <a:txBody>
                    <a:bodyPr/>
                    <a:lstStyle/>
                    <a:p>
                      <a:r>
                        <a:rPr sz="1875">
                          <a:solidFill>
                            <a:srgbClr val="15171A"/>
                          </a:solidFill>
                          <a:latin typeface="Inter"/>
                          <a:ea typeface="Inter"/>
                          <a:cs typeface="Inter"/>
                        </a:rPr>
                        <a:t>Passwortableitung</a:t>
                      </a:r>
                    </a:p>
                  </a:txBody>
                  <a:tcPr marL="171450" marR="171450" marT="142875" marB="142875" anchor="ctr">
                    <a:lnL w="0">
                      <a:noFill/>
                    </a:lnL>
                    <a:solidFill>
                      <a:srgbClr val="F6F5F1"/>
                    </a:solidFill>
                  </a:tcPr>
                </a:tc>
                <a:tc>
                  <a:txBody>
                    <a:bodyPr/>
                    <a:lstStyle/>
                    <a:p>
                      <a:r>
                        <a:rPr sz="1875">
                          <a:solidFill>
                            <a:srgbClr val="15171A"/>
                          </a:solidFill>
                          <a:latin typeface="Inter"/>
                          <a:ea typeface="Inter"/>
                          <a:cs typeface="Inter"/>
                        </a:rPr>
                        <a:t>SHA-256 mit Salt</a:t>
                      </a:r>
                    </a:p>
                  </a:txBody>
                  <a:tcPr marL="171450" marR="171450" marT="142875" marB="142875" anchor="ctr">
                    <a:solidFill>
                      <a:srgbClr val="F6F5F1"/>
                    </a:solidFill>
                  </a:tcPr>
                </a:tc>
                <a:tc>
                  <a:txBody>
                    <a:bodyPr/>
                    <a:lstStyle/>
                    <a:p>
                      <a:r>
                        <a:rPr sz="1875">
                          <a:solidFill>
                            <a:srgbClr val="15171A"/>
                          </a:solidFill>
                          <a:latin typeface="Inter"/>
                          <a:ea typeface="Inter"/>
                          <a:cs typeface="Inter"/>
                        </a:rPr>
                        <a:t>Einfacher als geplant</a:t>
                      </a:r>
                    </a:p>
                  </a:txBody>
                  <a:tcPr marL="171450" marR="171450" marT="142875" marB="142875" anchor="ctr">
                    <a:lnR w="0">
                      <a:noFill/>
                    </a:lnR>
                    <a:solidFill>
                      <a:srgbClr val="F6F5F1"/>
                    </a:solidFill>
                  </a:tcPr>
                </a:tc>
              </a:tr>
              <a:tr h="857250">
                <a:tc>
                  <a:txBody>
                    <a:bodyPr/>
                    <a:lstStyle/>
                    <a:p>
                      <a:r>
                        <a:rPr sz="1875">
                          <a:solidFill>
                            <a:srgbClr val="15171A"/>
                          </a:solidFill>
                          <a:latin typeface="Inter"/>
                          <a:ea typeface="Inter"/>
                          <a:cs typeface="Inter"/>
                        </a:rPr>
                        <a:t>Dark Mode optional</a:t>
                      </a:r>
                    </a:p>
                  </a:txBody>
                  <a:tcPr marL="171450" marR="171450" marT="142875" marB="142875" anchor="ctr">
                    <a:lnL w="0">
                      <a:noFill/>
                    </a:lnL>
                    <a:lnB w="6191">
                      <a:solidFill>
                        <a:srgbClr val="D6D8D0"/>
                      </a:solidFill>
                    </a:lnB>
                    <a:solidFill>
                      <a:srgbClr val="F6F5F1"/>
                    </a:solidFill>
                  </a:tcPr>
                </a:tc>
                <a:tc>
                  <a:txBody>
                    <a:bodyPr/>
                    <a:lstStyle/>
                    <a:p>
                      <a:r>
                        <a:rPr sz="1875">
                          <a:solidFill>
                            <a:srgbClr val="15171A"/>
                          </a:solidFill>
                          <a:latin typeface="Inter"/>
                          <a:ea typeface="Inter"/>
                          <a:cs typeface="Inter"/>
                        </a:rPr>
                        <a:t>Hell, Dunkel und System</a:t>
                      </a:r>
                    </a:p>
                  </a:txBody>
                  <a:tcPr marL="171450" marR="171450" marT="142875" marB="142875" anchor="ctr">
                    <a:lnB w="6191">
                      <a:solidFill>
                        <a:srgbClr val="D6D8D0"/>
                      </a:solidFill>
                    </a:lnB>
                    <a:solidFill>
                      <a:srgbClr val="F6F5F1"/>
                    </a:solidFill>
                  </a:tcPr>
                </a:tc>
                <a:tc>
                  <a:txBody>
                    <a:bodyPr/>
                    <a:lstStyle/>
                    <a:p>
                      <a:r>
                        <a:rPr sz="1875">
                          <a:solidFill>
                            <a:srgbClr val="15171A"/>
                          </a:solidFill>
                          <a:latin typeface="Inter"/>
                          <a:ea typeface="Inter"/>
                          <a:cs typeface="Inter"/>
                        </a:rPr>
                        <a:t>Zusätzlicher Umfang</a:t>
                      </a:r>
                    </a:p>
                  </a:txBody>
                  <a:tcPr marL="171450" marR="171450" marT="142875" marB="142875" anchor="ctr">
                    <a:lnR w="0">
                      <a:noFill/>
                    </a:lnR>
                    <a:lnB w="6191">
                      <a:solidFill>
                        <a:srgbClr val="D6D8D0"/>
                      </a:solidFill>
                    </a:lnB>
                    <a:solidFill>
                      <a:srgbClr val="F6F5F1"/>
                    </a:solidFill>
                  </a:tcPr>
                </a:tc>
              </a:tr>
            </a:tbl>
          </a:graphicData>
        </a:graphic>
      </p:graphicFrame>
      <p:sp>
        <p:nvSpPr>
          <p:cNvPr id="4" name="">
            <a:extLst xmlns:a="http://schemas.openxmlformats.org/drawingml/2006/main">
              <a:ext uri="{FF2B5EF4-FFF2-40B4-BE49-F238E27FC236}">
                <a16:creationId xmlns:a16="http://schemas.microsoft.com/office/drawing/2014/main" id="{9E8E28FA-CE20-4D04-A46C-C8E5297CCED2}"/>
              </a:ext>
            </a:extLst>
          </p:cNvPr>
          <p:cNvSpPr>
            <a:spLocks xmlns:a="http://schemas.openxmlformats.org/drawingml/2006/main" noGrp="1"/>
          </p:cNvSpPr>
          <p:nvPr/>
        </p:nvSpPr>
        <p:spPr>
          <a:xfrm xmlns:a="http://schemas.openxmlformats.org/drawingml/2006/main">
            <a:off x="628650" y="5953125"/>
            <a:ext cx="103632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F5A45"/>
                </a:solidFill>
                <a:latin typeface="Inter"/>
                <a:ea typeface="Inter"/>
                <a:cs typeface="Inter"/>
              </a:defRPr>
            </a:pPr>
            <a:r>
              <a:rPr sz="1875" b="0">
                <a:solidFill>
                  <a:srgbClr val="1F5A45"/>
                </a:solidFill>
                <a:latin typeface="Inter"/>
                <a:ea typeface="Inter"/>
                <a:cs typeface="Inter"/>
              </a:rPr>
              <a:t>Lokale App mit fünf Hauptscreens bleibt der Kern</a:t>
            </a:r>
          </a:p>
        </p:txBody>
      </p:sp>
    </p:spTree>
    <p:extLst>
      <p:ext uri="{BB962C8B-B14F-4D97-AF65-F5344CB8AC3E}">
        <p14:creationId xmlns:p14="http://schemas.microsoft.com/office/powerpoint/2010/main" val="1996201185"/>
      </p:ext>
    </p:extLst>
  </p:cSld>
</p:sld>
</file>

<file path=ppt/slides/slide8.xml><?xml version="1.0" encoding="utf-8"?>
<p:sld xmlns:p="http://schemas.openxmlformats.org/presentationml/2006/main">
  <p:cSld>
    <p:bg>
      <p:bgPr>
        <a:solidFill xmlns:a="http://schemas.openxmlformats.org/drawingml/2006/main">
          <a:srgbClr val="F6F5F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764DF07-043F-44FA-B162-302E08EFDFD5}"/>
              </a:ext>
            </a:extLst>
          </p:cNvPr>
          <p:cNvSpPr>
            <a:spLocks xmlns:a="http://schemas.openxmlformats.org/drawingml/2006/main" noGrp="1"/>
          </p:cNvSpPr>
          <p:nvPr/>
        </p:nvSpPr>
        <p:spPr>
          <a:xfrm xmlns:a="http://schemas.openxmlformats.org/drawingml/2006/main">
            <a:off x="11334750" y="6296025"/>
            <a:ext cx="3333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6E6D68"/>
                </a:solidFill>
                <a:latin typeface="Inter"/>
                <a:ea typeface="Inter"/>
                <a:cs typeface="Inter"/>
              </a:defRPr>
            </a:pPr>
            <a:r>
              <a:rPr sz="1275" b="0">
                <a:solidFill>
                  <a:srgbClr val="6E6D68"/>
                </a:solidFill>
                <a:latin typeface="Inter"/>
                <a:ea typeface="Inter"/>
                <a:cs typeface="Inter"/>
              </a:rPr>
              <a:t>8</a:t>
            </a:r>
          </a:p>
        </p:txBody>
      </p:sp>
      <p:sp>
        <p:nvSpPr>
          <p:cNvPr id="2" name="">
            <a:extLst xmlns:a="http://schemas.openxmlformats.org/drawingml/2006/main">
              <a:ext uri="{FF2B5EF4-FFF2-40B4-BE49-F238E27FC236}">
                <a16:creationId xmlns:a16="http://schemas.microsoft.com/office/drawing/2014/main" id="{69160282-A708-437A-8F80-DB2DA30DC705}"/>
              </a:ext>
            </a:extLst>
          </p:cNvPr>
          <p:cNvSpPr>
            <a:spLocks xmlns:a="http://schemas.openxmlformats.org/drawingml/2006/main" noGrp="1"/>
          </p:cNvSpPr>
          <p:nvPr/>
        </p:nvSpPr>
        <p:spPr>
          <a:xfrm xmlns:a="http://schemas.openxmlformats.org/drawingml/2006/main">
            <a:off x="609600" y="476250"/>
            <a:ext cx="10934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75" b="0">
                <a:solidFill>
                  <a:srgbClr val="15171A"/>
                </a:solidFill>
                <a:latin typeface="Newsreader"/>
                <a:ea typeface="Newsreader"/>
                <a:cs typeface="Newsreader"/>
              </a:defRPr>
            </a:pPr>
            <a:r>
              <a:rPr sz="3975" b="0">
                <a:solidFill>
                  <a:srgbClr val="15171A"/>
                </a:solidFill>
                <a:latin typeface="Newsreader"/>
                <a:ea typeface="Newsreader"/>
                <a:cs typeface="Newsreader"/>
              </a:rPr>
              <a:t>Qualität und Tests</a:t>
            </a:r>
          </a:p>
        </p:txBody>
      </p:sp>
      <p:sp>
        <p:nvSpPr>
          <p:cNvPr id="3" name="">
            <a:extLst xmlns:a="http://schemas.openxmlformats.org/drawingml/2006/main">
              <a:ext uri="{FF2B5EF4-FFF2-40B4-BE49-F238E27FC236}">
                <a16:creationId xmlns:a16="http://schemas.microsoft.com/office/drawing/2014/main" id="{1B34B693-BDDF-409B-9795-608DA9110D39}"/>
              </a:ext>
            </a:extLst>
          </p:cNvPr>
          <p:cNvSpPr>
            <a:spLocks xmlns:a="http://schemas.openxmlformats.org/drawingml/2006/main" noGrp="1"/>
          </p:cNvSpPr>
          <p:nvPr/>
        </p:nvSpPr>
        <p:spPr>
          <a:xfrm xmlns:a="http://schemas.openxmlformats.org/drawingml/2006/main">
            <a:off x="609600" y="1628775"/>
            <a:ext cx="373380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825" b="0">
                <a:solidFill>
                  <a:srgbClr val="1F5A45"/>
                </a:solidFill>
                <a:latin typeface="Newsreader"/>
                <a:ea typeface="Newsreader"/>
                <a:cs typeface="Newsreader"/>
              </a:defRPr>
            </a:pPr>
            <a:r>
              <a:rPr sz="9825" b="0">
                <a:solidFill>
                  <a:srgbClr val="1F5A45"/>
                </a:solidFill>
                <a:latin typeface="Newsreader"/>
                <a:ea typeface="Newsreader"/>
                <a:cs typeface="Newsreader"/>
              </a:rPr>
              <a:t>91</a:t>
            </a:r>
          </a:p>
        </p:txBody>
      </p:sp>
      <p:sp>
        <p:nvSpPr>
          <p:cNvPr id="4" name="">
            <a:extLst xmlns:a="http://schemas.openxmlformats.org/drawingml/2006/main">
              <a:ext uri="{FF2B5EF4-FFF2-40B4-BE49-F238E27FC236}">
                <a16:creationId xmlns:a16="http://schemas.microsoft.com/office/drawing/2014/main" id="{4F9B26D0-8C86-43F5-8D80-DFAB495520C2}"/>
              </a:ext>
            </a:extLst>
          </p:cNvPr>
          <p:cNvSpPr>
            <a:spLocks xmlns:a="http://schemas.openxmlformats.org/drawingml/2006/main" noGrp="1"/>
          </p:cNvSpPr>
          <p:nvPr/>
        </p:nvSpPr>
        <p:spPr>
          <a:xfrm xmlns:a="http://schemas.openxmlformats.org/drawingml/2006/main">
            <a:off x="647700" y="3333750"/>
            <a:ext cx="5048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5171A"/>
                </a:solidFill>
                <a:latin typeface="Inter"/>
                <a:ea typeface="Inter"/>
                <a:cs typeface="Inter"/>
              </a:defRPr>
            </a:pPr>
            <a:r>
              <a:rPr sz="2250" b="0">
                <a:solidFill>
                  <a:srgbClr val="15171A"/>
                </a:solidFill>
                <a:latin typeface="Inter"/>
                <a:ea typeface="Inter"/>
                <a:cs typeface="Inter"/>
              </a:rPr>
              <a:t>automatisierte Tests bestanden</a:t>
            </a:r>
          </a:p>
        </p:txBody>
      </p:sp>
      <p:sp>
        <p:nvSpPr>
          <p:cNvPr id="5" name="">
            <a:extLst xmlns:a="http://schemas.openxmlformats.org/drawingml/2006/main">
              <a:ext uri="{FF2B5EF4-FFF2-40B4-BE49-F238E27FC236}">
                <a16:creationId xmlns:a16="http://schemas.microsoft.com/office/drawing/2014/main" id="{3A62F4EE-4B2A-42AF-A881-F1B3F5770BF8}"/>
              </a:ext>
            </a:extLst>
          </p:cNvPr>
          <p:cNvSpPr>
            <a:spLocks xmlns:a="http://schemas.openxmlformats.org/drawingml/2006/main" noGrp="1"/>
          </p:cNvSpPr>
          <p:nvPr/>
        </p:nvSpPr>
        <p:spPr>
          <a:xfrm xmlns:a="http://schemas.openxmlformats.org/drawingml/2006/main">
            <a:off x="647700" y="4419600"/>
            <a:ext cx="5305425"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6E6D68"/>
                </a:solidFill>
                <a:latin typeface="Inter"/>
                <a:ea typeface="Inter"/>
                <a:cs typeface="Inter"/>
              </a:defRPr>
            </a:pPr>
            <a:r>
              <a:rPr sz="1950" b="0">
                <a:solidFill>
                  <a:srgbClr val="6E6D68"/>
                </a:solidFill>
                <a:latin typeface="Inter"/>
                <a:ea typeface="Inter"/>
                <a:cs typeface="Inter"/>
              </a:rPr>
              <a:t>9 Testsuiten</a:t>
            </a:r>
          </a:p>
          <a:p xmlns:a="http://schemas.openxmlformats.org/drawingml/2006/main">
            <a:pPr algn="l">
              <a:defRPr sz="1950" b="0">
                <a:solidFill>
                  <a:srgbClr val="6E6D68"/>
                </a:solidFill>
                <a:latin typeface="Inter"/>
                <a:ea typeface="Inter"/>
                <a:cs typeface="Inter"/>
              </a:defRPr>
            </a:pPr>
            <a:r>
              <a:rPr sz="1950" b="0">
                <a:solidFill>
                  <a:srgbClr val="6E6D68"/>
                </a:solidFill>
                <a:latin typeface="Inter"/>
                <a:ea typeface="Inter"/>
                <a:cs typeface="Inter"/>
              </a:rPr>
              <a:t>Rechenlogik und Sicherheitsregeln</a:t>
            </a:r>
          </a:p>
          <a:p xmlns:a="http://schemas.openxmlformats.org/drawingml/2006/main">
            <a:pPr algn="l">
              <a:defRPr sz="1950" b="0">
                <a:solidFill>
                  <a:srgbClr val="6E6D68"/>
                </a:solidFill>
                <a:latin typeface="Inter"/>
                <a:ea typeface="Inter"/>
                <a:cs typeface="Inter"/>
              </a:defRPr>
            </a:pPr>
            <a:r>
              <a:rPr sz="1950" b="0">
                <a:solidFill>
                  <a:srgbClr val="6E6D68"/>
                </a:solidFill>
                <a:latin typeface="Inter"/>
                <a:ea typeface="Inter"/>
                <a:cs typeface="Inter"/>
              </a:rPr>
              <a:t>SQLite-Regressionen und ESLint</a:t>
            </a:r>
          </a:p>
        </p:txBody>
      </p:sp>
      <p:sp>
        <p:nvSpPr>
          <p:cNvPr id="6" name="">
            <a:extLst xmlns:a="http://schemas.openxmlformats.org/drawingml/2006/main">
              <a:ext uri="{FF2B5EF4-FFF2-40B4-BE49-F238E27FC236}">
                <a16:creationId xmlns:a16="http://schemas.microsoft.com/office/drawing/2014/main" id="{8D14CC06-CD8A-4062-8797-088EE21F12E1}"/>
              </a:ext>
            </a:extLst>
          </p:cNvPr>
          <p:cNvSpPr>
            <a:spLocks xmlns:a="http://schemas.openxmlformats.org/drawingml/2006/main" noGrp="1"/>
          </p:cNvSpPr>
          <p:nvPr/>
        </p:nvSpPr>
        <p:spPr>
          <a:xfrm xmlns:a="http://schemas.openxmlformats.org/drawingml/2006/main">
            <a:off x="6838950" y="1819275"/>
            <a:ext cx="457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F5A45"/>
                </a:solidFill>
                <a:latin typeface="Newsreader"/>
                <a:ea typeface="Newsreader"/>
                <a:cs typeface="Newsreader"/>
              </a:defRPr>
            </a:pPr>
            <a:r>
              <a:rPr sz="2625" b="0">
                <a:solidFill>
                  <a:srgbClr val="1F5A45"/>
                </a:solidFill>
                <a:latin typeface="Newsreader"/>
                <a:ea typeface="Newsreader"/>
                <a:cs typeface="Newsreader"/>
              </a:rPr>
              <a:t>Nachweis an der App</a:t>
            </a:r>
          </a:p>
        </p:txBody>
      </p:sp>
      <p:sp>
        <p:nvSpPr>
          <p:cNvPr id="7" name="">
            <a:extLst xmlns:a="http://schemas.openxmlformats.org/drawingml/2006/main">
              <a:ext uri="{FF2B5EF4-FFF2-40B4-BE49-F238E27FC236}">
                <a16:creationId xmlns:a16="http://schemas.microsoft.com/office/drawing/2014/main" id="{19DD42BB-74B0-462F-822E-30F1BECBFB3E}"/>
              </a:ext>
            </a:extLst>
          </p:cNvPr>
          <p:cNvSpPr>
            <a:spLocks xmlns:a="http://schemas.openxmlformats.org/drawingml/2006/main" noGrp="1"/>
          </p:cNvSpPr>
          <p:nvPr/>
        </p:nvSpPr>
        <p:spPr>
          <a:xfrm xmlns:a="http://schemas.openxmlformats.org/drawingml/2006/main">
            <a:off x="6886575" y="2647950"/>
            <a:ext cx="45720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5171A"/>
                </a:solidFill>
                <a:latin typeface="Inter"/>
                <a:ea typeface="Inter"/>
                <a:cs typeface="Inter"/>
              </a:defRPr>
            </a:pPr>
            <a:r>
              <a:rPr sz="2025" b="0">
                <a:solidFill>
                  <a:srgbClr val="15171A"/>
                </a:solidFill>
                <a:latin typeface="Inter"/>
                <a:ea typeface="Inter"/>
                <a:cs typeface="Inter"/>
              </a:rPr>
              <a:t>Erstellen, bearbeiten und suchen</a:t>
            </a:r>
          </a:p>
          <a:p xmlns:a="http://schemas.openxmlformats.org/drawingml/2006/main">
            <a:pPr algn="l">
              <a:defRPr sz="2025" b="0">
                <a:solidFill>
                  <a:srgbClr val="15171A"/>
                </a:solidFill>
                <a:latin typeface="Inter"/>
                <a:ea typeface="Inter"/>
                <a:cs typeface="Inter"/>
              </a:defRPr>
            </a:pPr>
            <a:r>
              <a:rPr sz="2025" b="0">
                <a:solidFill>
                  <a:srgbClr val="15171A"/>
                </a:solidFill>
                <a:latin typeface="Inter"/>
                <a:ea typeface="Inter"/>
                <a:cs typeface="Inter"/>
              </a:rPr>
              <a:t>Löschen und wiederherstellen</a:t>
            </a:r>
          </a:p>
          <a:p xmlns:a="http://schemas.openxmlformats.org/drawingml/2006/main">
            <a:pPr algn="l">
              <a:defRPr sz="2025" b="0">
                <a:solidFill>
                  <a:srgbClr val="15171A"/>
                </a:solidFill>
                <a:latin typeface="Inter"/>
                <a:ea typeface="Inter"/>
                <a:cs typeface="Inter"/>
              </a:defRPr>
            </a:pPr>
            <a:r>
              <a:rPr sz="2025" b="0">
                <a:solidFill>
                  <a:srgbClr val="15171A"/>
                </a:solidFill>
                <a:latin typeface="Inter"/>
                <a:ea typeface="Inter"/>
                <a:cs typeface="Inter"/>
              </a:rPr>
              <a:t>Neustart ohne Entwicklungsserver</a:t>
            </a:r>
          </a:p>
          <a:p xmlns:a="http://schemas.openxmlformats.org/drawingml/2006/main">
            <a:pPr algn="l">
              <a:defRPr sz="2025" b="0">
                <a:solidFill>
                  <a:srgbClr val="15171A"/>
                </a:solidFill>
                <a:latin typeface="Inter"/>
                <a:ea typeface="Inter"/>
                <a:cs typeface="Inter"/>
              </a:defRPr>
            </a:pPr>
            <a:r>
              <a:rPr sz="2025" b="0">
                <a:solidFill>
                  <a:srgbClr val="15171A"/>
                </a:solidFill>
                <a:latin typeface="Inter"/>
                <a:ea typeface="Inter"/>
                <a:cs typeface="Inter"/>
              </a:rPr>
              <a:t>Getrennte Monatsbudgets</a:t>
            </a:r>
          </a:p>
        </p:txBody>
      </p:sp>
      <p:sp>
        <p:nvSpPr>
          <p:cNvPr id="8" name="">
            <a:extLst xmlns:a="http://schemas.openxmlformats.org/drawingml/2006/main">
              <a:ext uri="{FF2B5EF4-FFF2-40B4-BE49-F238E27FC236}">
                <a16:creationId xmlns:a16="http://schemas.microsoft.com/office/drawing/2014/main" id="{5CB2FAD3-95D4-4AA4-A899-BD8AEC9341EE}"/>
              </a:ext>
            </a:extLst>
          </p:cNvPr>
          <p:cNvSpPr>
            <a:spLocks xmlns:a="http://schemas.openxmlformats.org/drawingml/2006/main" noGrp="1"/>
          </p:cNvSpPr>
          <p:nvPr/>
        </p:nvSpPr>
        <p:spPr>
          <a:xfrm xmlns:a="http://schemas.openxmlformats.org/drawingml/2006/main">
            <a:off x="6877050" y="5429250"/>
            <a:ext cx="45434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E6D68"/>
                </a:solidFill>
                <a:latin typeface="Inter"/>
                <a:ea typeface="Inter"/>
                <a:cs typeface="Inter"/>
              </a:defRPr>
            </a:pPr>
            <a:r>
              <a:rPr sz="1650" b="0">
                <a:solidFill>
                  <a:srgbClr val="6E6D68"/>
                </a:solidFill>
                <a:latin typeface="Inter"/>
                <a:ea typeface="Inter"/>
                <a:cs typeface="Inter"/>
              </a:rPr>
              <a:t>Physischer Face-ID-Scan und Nutzertest offen</a:t>
            </a:r>
          </a:p>
        </p:txBody>
      </p:sp>
    </p:spTree>
    <p:extLst>
      <p:ext uri="{BB962C8B-B14F-4D97-AF65-F5344CB8AC3E}">
        <p14:creationId xmlns:p14="http://schemas.microsoft.com/office/powerpoint/2010/main" val="1933120105"/>
      </p:ext>
    </p:extLst>
  </p:cSld>
</p:sld>
</file>

<file path=ppt/slides/slide9.xml><?xml version="1.0" encoding="utf-8"?>
<p:sld xmlns:p="http://schemas.openxmlformats.org/presentationml/2006/main">
  <p:cSld>
    <p:bg>
      <p:bgPr>
        <a:solidFill xmlns:a="http://schemas.openxmlformats.org/drawingml/2006/main">
          <a:srgbClr val="F6F5F1"/>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E02D11F-E3B8-47E7-BB16-C4FAD6C1234B}"/>
              </a:ext>
            </a:extLst>
          </p:cNvPr>
          <p:cNvSpPr>
            <a:spLocks xmlns:a="http://schemas.openxmlformats.org/drawingml/2006/main" noGrp="1"/>
          </p:cNvSpPr>
          <p:nvPr/>
        </p:nvSpPr>
        <p:spPr>
          <a:xfrm xmlns:a="http://schemas.openxmlformats.org/drawingml/2006/main">
            <a:off x="11334750" y="6296025"/>
            <a:ext cx="3333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6E6D68"/>
                </a:solidFill>
                <a:latin typeface="Inter"/>
                <a:ea typeface="Inter"/>
                <a:cs typeface="Inter"/>
              </a:defRPr>
            </a:pPr>
            <a:r>
              <a:rPr sz="1275" b="0">
                <a:solidFill>
                  <a:srgbClr val="6E6D68"/>
                </a:solidFill>
                <a:latin typeface="Inter"/>
                <a:ea typeface="Inter"/>
                <a:cs typeface="Inter"/>
              </a:rPr>
              <a:t>9</a:t>
            </a:r>
          </a:p>
        </p:txBody>
      </p:sp>
      <p:sp>
        <p:nvSpPr>
          <p:cNvPr id="2" name="">
            <a:extLst xmlns:a="http://schemas.openxmlformats.org/drawingml/2006/main">
              <a:ext uri="{FF2B5EF4-FFF2-40B4-BE49-F238E27FC236}">
                <a16:creationId xmlns:a16="http://schemas.microsoft.com/office/drawing/2014/main" id="{ADCD3D4D-28D0-44EB-AA8A-1AC47FDEA845}"/>
              </a:ext>
            </a:extLst>
          </p:cNvPr>
          <p:cNvSpPr>
            <a:spLocks xmlns:a="http://schemas.openxmlformats.org/drawingml/2006/main" noGrp="1"/>
          </p:cNvSpPr>
          <p:nvPr/>
        </p:nvSpPr>
        <p:spPr>
          <a:xfrm xmlns:a="http://schemas.openxmlformats.org/drawingml/2006/main">
            <a:off x="609600" y="476250"/>
            <a:ext cx="10934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75" b="0">
                <a:solidFill>
                  <a:srgbClr val="15171A"/>
                </a:solidFill>
                <a:latin typeface="Newsreader"/>
                <a:ea typeface="Newsreader"/>
                <a:cs typeface="Newsreader"/>
              </a:defRPr>
            </a:pPr>
            <a:r>
              <a:rPr sz="3975" b="0">
                <a:solidFill>
                  <a:srgbClr val="15171A"/>
                </a:solidFill>
                <a:latin typeface="Newsreader"/>
                <a:ea typeface="Newsreader"/>
                <a:cs typeface="Newsreader"/>
              </a:rPr>
              <a:t>Herausforderungen</a:t>
            </a:r>
          </a:p>
        </p:txBody>
      </p:sp>
      <p:sp>
        <p:nvSpPr>
          <p:cNvPr id="3" name="">
            <a:extLst xmlns:a="http://schemas.openxmlformats.org/drawingml/2006/main">
              <a:ext uri="{FF2B5EF4-FFF2-40B4-BE49-F238E27FC236}">
                <a16:creationId xmlns:a16="http://schemas.microsoft.com/office/drawing/2014/main" id="{9B2C36E3-D346-4A2B-A838-0BCD39191A81}"/>
              </a:ext>
            </a:extLst>
          </p:cNvPr>
          <p:cNvSpPr>
            <a:spLocks xmlns:a="http://schemas.openxmlformats.org/drawingml/2006/main" noGrp="1"/>
          </p:cNvSpPr>
          <p:nvPr/>
        </p:nvSpPr>
        <p:spPr>
          <a:xfrm xmlns:a="http://schemas.openxmlformats.org/drawingml/2006/main">
            <a:off x="609600" y="1724025"/>
            <a:ext cx="70008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F5A45"/>
                </a:solidFill>
                <a:latin typeface="Newsreader"/>
                <a:ea typeface="Newsreader"/>
                <a:cs typeface="Newsreader"/>
              </a:defRPr>
            </a:pPr>
            <a:r>
              <a:rPr sz="2775" b="0">
                <a:solidFill>
                  <a:srgbClr val="1F5A45"/>
                </a:solidFill>
                <a:latin typeface="Newsreader"/>
                <a:ea typeface="Newsreader"/>
                <a:cs typeface="Newsreader"/>
              </a:rPr>
              <a:t>Monate sauber trennen</a:t>
            </a:r>
          </a:p>
        </p:txBody>
      </p:sp>
      <p:sp>
        <p:nvSpPr>
          <p:cNvPr id="4" name="">
            <a:extLst xmlns:a="http://schemas.openxmlformats.org/drawingml/2006/main">
              <a:ext uri="{FF2B5EF4-FFF2-40B4-BE49-F238E27FC236}">
                <a16:creationId xmlns:a16="http://schemas.microsoft.com/office/drawing/2014/main" id="{80773235-AF5A-4909-8B84-4A6A4486AEEB}"/>
              </a:ext>
            </a:extLst>
          </p:cNvPr>
          <p:cNvSpPr>
            <a:spLocks xmlns:a="http://schemas.openxmlformats.org/drawingml/2006/main" noGrp="1"/>
          </p:cNvSpPr>
          <p:nvPr/>
        </p:nvSpPr>
        <p:spPr>
          <a:xfrm xmlns:a="http://schemas.openxmlformats.org/drawingml/2006/main">
            <a:off x="647700" y="2457450"/>
            <a:ext cx="666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5171A"/>
                </a:solidFill>
                <a:latin typeface="Inter"/>
                <a:ea typeface="Inter"/>
                <a:cs typeface="Inter"/>
              </a:defRPr>
            </a:pPr>
            <a:r>
              <a:rPr sz="2100" b="0">
                <a:solidFill>
                  <a:srgbClr val="15171A"/>
                </a:solidFill>
                <a:latin typeface="Inter"/>
                <a:ea typeface="Inter"/>
                <a:cs typeface="Inter"/>
              </a:rPr>
              <a:t>Ein Budget gehört zu einem Monat.</a:t>
            </a:r>
          </a:p>
          <a:p xmlns:a="http://schemas.openxmlformats.org/drawingml/2006/main">
            <a:pPr algn="l">
              <a:defRPr sz="2100" b="0">
                <a:solidFill>
                  <a:srgbClr val="15171A"/>
                </a:solidFill>
                <a:latin typeface="Inter"/>
                <a:ea typeface="Inter"/>
                <a:cs typeface="Inter"/>
              </a:defRPr>
            </a:pPr>
            <a:r>
              <a:rPr sz="2100" b="0">
                <a:solidFill>
                  <a:srgbClr val="15171A"/>
                </a:solidFill>
                <a:latin typeface="Inter"/>
                <a:ea typeface="Inter"/>
                <a:cs typeface="Inter"/>
              </a:rPr>
              <a:t>Neue Werte dürfen alte Monate nicht verändern.</a:t>
            </a:r>
          </a:p>
        </p:txBody>
      </p:sp>
      <p:sp>
        <p:nvSpPr>
          <p:cNvPr id="5" name="">
            <a:extLst xmlns:a="http://schemas.openxmlformats.org/drawingml/2006/main">
              <a:ext uri="{FF2B5EF4-FFF2-40B4-BE49-F238E27FC236}">
                <a16:creationId xmlns:a16="http://schemas.microsoft.com/office/drawing/2014/main" id="{EEA28210-CE7F-4087-AD13-54281C01F6FA}"/>
              </a:ext>
            </a:extLst>
          </p:cNvPr>
          <p:cNvSpPr>
            <a:spLocks xmlns:a="http://schemas.openxmlformats.org/drawingml/2006/main" noGrp="1"/>
          </p:cNvSpPr>
          <p:nvPr/>
        </p:nvSpPr>
        <p:spPr>
          <a:xfrm xmlns:a="http://schemas.openxmlformats.org/drawingml/2006/main">
            <a:off x="609600" y="3981450"/>
            <a:ext cx="7000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F5A45"/>
                </a:solidFill>
                <a:latin typeface="Newsreader"/>
                <a:ea typeface="Newsreader"/>
                <a:cs typeface="Newsreader"/>
              </a:defRPr>
            </a:pPr>
            <a:r>
              <a:rPr sz="2775" b="0">
                <a:solidFill>
                  <a:srgbClr val="1F5A45"/>
                </a:solidFill>
                <a:latin typeface="Newsreader"/>
                <a:ea typeface="Newsreader"/>
                <a:cs typeface="Newsreader"/>
              </a:rPr>
              <a:t>Fehlerfälle mitdenken</a:t>
            </a:r>
          </a:p>
        </p:txBody>
      </p:sp>
      <p:sp>
        <p:nvSpPr>
          <p:cNvPr id="6" name="">
            <a:extLst xmlns:a="http://schemas.openxmlformats.org/drawingml/2006/main">
              <a:ext uri="{FF2B5EF4-FFF2-40B4-BE49-F238E27FC236}">
                <a16:creationId xmlns:a16="http://schemas.microsoft.com/office/drawing/2014/main" id="{22573CD1-8D4C-429D-818C-A20398CC3667}"/>
              </a:ext>
            </a:extLst>
          </p:cNvPr>
          <p:cNvSpPr>
            <a:spLocks xmlns:a="http://schemas.openxmlformats.org/drawingml/2006/main" noGrp="1"/>
          </p:cNvSpPr>
          <p:nvPr/>
        </p:nvSpPr>
        <p:spPr>
          <a:xfrm xmlns:a="http://schemas.openxmlformats.org/drawingml/2006/main">
            <a:off x="647700" y="4724400"/>
            <a:ext cx="66675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5171A"/>
                </a:solidFill>
                <a:latin typeface="Inter"/>
                <a:ea typeface="Inter"/>
                <a:cs typeface="Inter"/>
              </a:defRPr>
            </a:pPr>
            <a:r>
              <a:rPr sz="2100" b="0">
                <a:solidFill>
                  <a:srgbClr val="15171A"/>
                </a:solidFill>
                <a:latin typeface="Inter"/>
                <a:ea typeface="Inter"/>
                <a:cs typeface="Inter"/>
              </a:rPr>
              <a:t>Sperrfristen bleiben gespeichert.</a:t>
            </a:r>
          </a:p>
          <a:p xmlns:a="http://schemas.openxmlformats.org/drawingml/2006/main">
            <a:pPr algn="l">
              <a:defRPr sz="2100" b="0">
                <a:solidFill>
                  <a:srgbClr val="15171A"/>
                </a:solidFill>
                <a:latin typeface="Inter"/>
                <a:ea typeface="Inter"/>
                <a:cs typeface="Inter"/>
              </a:defRPr>
            </a:pPr>
            <a:r>
              <a:rPr sz="2100" b="0">
                <a:solidFill>
                  <a:srgbClr val="15171A"/>
                </a:solidFill>
                <a:latin typeface="Inter"/>
                <a:ea typeface="Inter"/>
                <a:cs typeface="Inter"/>
              </a:rPr>
              <a:t>Abbrechen schützt ungesicherte Eingaben.</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4b2356b8348344ad"/>
          <a:stretch xmlns:a="http://schemas.openxmlformats.org/drawingml/2006/main"/>
        </p:blipFill>
        <p:spPr>
          <a:xfrm xmlns:a="http://schemas.openxmlformats.org/drawingml/2006/main">
            <a:off x="8816445" y="1457325"/>
            <a:ext cx="2102911" cy="4572000"/>
          </a:xfrm>
          <a:prstGeom xmlns:a="http://schemas.openxmlformats.org/drawingml/2006/main" prst="rect">
            <a:avLst/>
          </a:prstGeom>
        </p:spPr>
      </p:pic>
    </p:spTree>
    <p:extLst>
      <p:ext uri="{BB962C8B-B14F-4D97-AF65-F5344CB8AC3E}">
        <p14:creationId xmlns:p14="http://schemas.microsoft.com/office/powerpoint/2010/main" val="1642462663"/>
      </p:ext>
    </p:extLst>
  </p:cSld>
</p:sld>
</file>

<file path=ppt/slides/slide10.xml><?xml version="1.0" encoding="utf-8"?>
<p:sld xmlns:p="http://schemas.openxmlformats.org/presentationml/2006/main">
  <p:cSld>
    <p:bg>
      <p:bgPr>
        <a:solidFill xmlns:a="http://schemas.openxmlformats.org/drawingml/2006/main">
          <a:srgbClr val="1F5A4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05039AA-3E22-4067-B7E4-FB1DA54F7AD4}"/>
              </a:ext>
            </a:extLst>
          </p:cNvPr>
          <p:cNvSpPr>
            <a:spLocks xmlns:a="http://schemas.openxmlformats.org/drawingml/2006/main" noGrp="1"/>
          </p:cNvSpPr>
          <p:nvPr/>
        </p:nvSpPr>
        <p:spPr>
          <a:xfrm xmlns:a="http://schemas.openxmlformats.org/drawingml/2006/main">
            <a:off x="11334750" y="6296025"/>
            <a:ext cx="3333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DCEBE2"/>
                </a:solidFill>
                <a:latin typeface="Inter"/>
                <a:ea typeface="Inter"/>
                <a:cs typeface="Inter"/>
              </a:defRPr>
            </a:pPr>
            <a:r>
              <a:rPr sz="1275" b="0">
                <a:solidFill>
                  <a:srgbClr val="DCEBE2"/>
                </a:solidFill>
                <a:latin typeface="Inter"/>
                <a:ea typeface="Inter"/>
                <a:cs typeface="Inter"/>
              </a:rPr>
              <a:t>10</a:t>
            </a:r>
          </a:p>
        </p:txBody>
      </p:sp>
      <p:sp>
        <p:nvSpPr>
          <p:cNvPr id="2" name="">
            <a:extLst xmlns:a="http://schemas.openxmlformats.org/drawingml/2006/main">
              <a:ext uri="{FF2B5EF4-FFF2-40B4-BE49-F238E27FC236}">
                <a16:creationId xmlns:a16="http://schemas.microsoft.com/office/drawing/2014/main" id="{0DC02941-618F-4346-A3FD-E693186224E1}"/>
              </a:ext>
            </a:extLst>
          </p:cNvPr>
          <p:cNvSpPr>
            <a:spLocks xmlns:a="http://schemas.openxmlformats.org/drawingml/2006/main" noGrp="1"/>
          </p:cNvSpPr>
          <p:nvPr/>
        </p:nvSpPr>
        <p:spPr>
          <a:xfrm xmlns:a="http://schemas.openxmlformats.org/drawingml/2006/main">
            <a:off x="609600" y="476250"/>
            <a:ext cx="10934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75" b="0">
                <a:solidFill>
                  <a:srgbClr val="F6F5F1"/>
                </a:solidFill>
                <a:latin typeface="Newsreader"/>
                <a:ea typeface="Newsreader"/>
                <a:cs typeface="Newsreader"/>
              </a:defRPr>
            </a:pPr>
            <a:r>
              <a:rPr sz="3975" b="0">
                <a:solidFill>
                  <a:srgbClr val="F6F5F1"/>
                </a:solidFill>
                <a:latin typeface="Newsreader"/>
                <a:ea typeface="Newsreader"/>
                <a:cs typeface="Newsreader"/>
              </a:rPr>
              <a:t>Rückblick und Ausblick</a:t>
            </a:r>
          </a:p>
        </p:txBody>
      </p:sp>
      <p:sp>
        <p:nvSpPr>
          <p:cNvPr id="3" name="">
            <a:extLst xmlns:a="http://schemas.openxmlformats.org/drawingml/2006/main">
              <a:ext uri="{FF2B5EF4-FFF2-40B4-BE49-F238E27FC236}">
                <a16:creationId xmlns:a16="http://schemas.microsoft.com/office/drawing/2014/main" id="{AA6DA68F-4E4E-43B6-AA2D-783EE88EF28F}"/>
              </a:ext>
            </a:extLst>
          </p:cNvPr>
          <p:cNvSpPr>
            <a:spLocks xmlns:a="http://schemas.openxmlformats.org/drawingml/2006/main" noGrp="1"/>
          </p:cNvSpPr>
          <p:nvPr/>
        </p:nvSpPr>
        <p:spPr>
          <a:xfrm xmlns:a="http://schemas.openxmlformats.org/drawingml/2006/main">
            <a:off x="638175" y="1752600"/>
            <a:ext cx="102393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250" b="0">
                <a:solidFill>
                  <a:srgbClr val="F6F5F1"/>
                </a:solidFill>
                <a:latin typeface="Newsreader"/>
                <a:ea typeface="Newsreader"/>
                <a:cs typeface="Newsreader"/>
              </a:defRPr>
            </a:pPr>
            <a:r>
              <a:rPr sz="5250" b="0">
                <a:solidFill>
                  <a:srgbClr val="F6F5F1"/>
                </a:solidFill>
                <a:latin typeface="Newsreader"/>
                <a:ea typeface="Newsreader"/>
                <a:cs typeface="Newsreader"/>
              </a:rPr>
              <a:t>Fehlerfälle gehören</a:t>
            </a:r>
          </a:p>
          <a:p xmlns:a="http://schemas.openxmlformats.org/drawingml/2006/main">
            <a:pPr algn="l">
              <a:defRPr sz="5250" b="0">
                <a:solidFill>
                  <a:srgbClr val="F6F5F1"/>
                </a:solidFill>
                <a:latin typeface="Newsreader"/>
                <a:ea typeface="Newsreader"/>
                <a:cs typeface="Newsreader"/>
              </a:defRPr>
            </a:pPr>
            <a:r>
              <a:rPr sz="5250" b="0">
                <a:solidFill>
                  <a:srgbClr val="F6F5F1"/>
                </a:solidFill>
                <a:latin typeface="Newsreader"/>
                <a:ea typeface="Newsreader"/>
                <a:cs typeface="Newsreader"/>
              </a:rPr>
              <a:t>früh zum Konzept.</a:t>
            </a:r>
          </a:p>
        </p:txBody>
      </p:sp>
      <p:sp>
        <p:nvSpPr>
          <p:cNvPr id="4" name="">
            <a:extLst xmlns:a="http://schemas.openxmlformats.org/drawingml/2006/main">
              <a:ext uri="{FF2B5EF4-FFF2-40B4-BE49-F238E27FC236}">
                <a16:creationId xmlns:a16="http://schemas.microsoft.com/office/drawing/2014/main" id="{0CF6C913-1825-4858-9536-A3279DACE16F}"/>
              </a:ext>
            </a:extLst>
          </p:cNvPr>
          <p:cNvSpPr>
            <a:spLocks xmlns:a="http://schemas.openxmlformats.org/drawingml/2006/main" noGrp="1"/>
          </p:cNvSpPr>
          <p:nvPr/>
        </p:nvSpPr>
        <p:spPr>
          <a:xfrm xmlns:a="http://schemas.openxmlformats.org/drawingml/2006/main">
            <a:off x="666750" y="4229100"/>
            <a:ext cx="857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DCEBE2"/>
                </a:solidFill>
                <a:latin typeface="Inter"/>
                <a:ea typeface="Inter"/>
                <a:cs typeface="Inter"/>
              </a:defRPr>
            </a:pPr>
            <a:r>
              <a:rPr sz="2025" b="1">
                <a:solidFill>
                  <a:srgbClr val="DCEBE2"/>
                </a:solidFill>
                <a:latin typeface="Inter"/>
                <a:ea typeface="Inter"/>
                <a:cs typeface="Inter"/>
              </a:rPr>
              <a:t>Nächster Schritt</a:t>
            </a:r>
          </a:p>
        </p:txBody>
      </p:sp>
      <p:sp>
        <p:nvSpPr>
          <p:cNvPr id="5" name="">
            <a:extLst xmlns:a="http://schemas.openxmlformats.org/drawingml/2006/main">
              <a:ext uri="{FF2B5EF4-FFF2-40B4-BE49-F238E27FC236}">
                <a16:creationId xmlns:a16="http://schemas.microsoft.com/office/drawing/2014/main" id="{FEB37A08-A2D4-4D3B-A11E-0CAACA3D57AB}"/>
              </a:ext>
            </a:extLst>
          </p:cNvPr>
          <p:cNvSpPr>
            <a:spLocks xmlns:a="http://schemas.openxmlformats.org/drawingml/2006/main" noGrp="1"/>
          </p:cNvSpPr>
          <p:nvPr/>
        </p:nvSpPr>
        <p:spPr>
          <a:xfrm xmlns:a="http://schemas.openxmlformats.org/drawingml/2006/main">
            <a:off x="666750" y="4857750"/>
            <a:ext cx="100965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F6F5F1"/>
                </a:solidFill>
                <a:latin typeface="Inter"/>
                <a:ea typeface="Inter"/>
                <a:cs typeface="Inter"/>
              </a:defRPr>
            </a:pPr>
            <a:r>
              <a:rPr sz="2550" b="0">
                <a:solidFill>
                  <a:srgbClr val="F6F5F1"/>
                </a:solidFill>
                <a:latin typeface="Inter"/>
                <a:ea typeface="Inter"/>
                <a:cs typeface="Inter"/>
              </a:rPr>
              <a:t>Erfassung mit der Zielgruppe testen.</a:t>
            </a:r>
          </a:p>
          <a:p xmlns:a="http://schemas.openxmlformats.org/drawingml/2006/main">
            <a:pPr algn="l">
              <a:defRPr sz="2550" b="0">
                <a:solidFill>
                  <a:srgbClr val="F6F5F1"/>
                </a:solidFill>
                <a:latin typeface="Inter"/>
                <a:ea typeface="Inter"/>
                <a:cs typeface="Inter"/>
              </a:defRPr>
            </a:pPr>
            <a:r>
              <a:rPr sz="2550" b="0">
                <a:solidFill>
                  <a:srgbClr val="F6F5F1"/>
                </a:solidFill>
                <a:latin typeface="Inter"/>
                <a:ea typeface="Inter"/>
                <a:cs typeface="Inter"/>
              </a:rPr>
              <a:t>Zeitbedarf und Verständlichkeit messen.</a:t>
            </a:r>
          </a:p>
        </p:txBody>
      </p:sp>
      <p:sp>
        <p:nvSpPr>
          <p:cNvPr id="6" name="">
            <a:extLst xmlns:a="http://schemas.openxmlformats.org/drawingml/2006/main">
              <a:ext uri="{FF2B5EF4-FFF2-40B4-BE49-F238E27FC236}">
                <a16:creationId xmlns:a16="http://schemas.microsoft.com/office/drawing/2014/main" id="{50138AAF-EFB5-4F2E-9281-748F6D90A2A1}"/>
              </a:ext>
            </a:extLst>
          </p:cNvPr>
          <p:cNvSpPr>
            <a:spLocks xmlns:a="http://schemas.openxmlformats.org/drawingml/2006/main" noGrp="1"/>
          </p:cNvSpPr>
          <p:nvPr/>
        </p:nvSpPr>
        <p:spPr>
          <a:xfrm xmlns:a="http://schemas.openxmlformats.org/drawingml/2006/main">
            <a:off x="10315575" y="5905500"/>
            <a:ext cx="1219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DCEBE2"/>
                </a:solidFill>
                <a:latin typeface="Inter"/>
                <a:ea typeface="Inter"/>
                <a:cs typeface="Inter"/>
              </a:defRPr>
            </a:pPr>
            <a:r>
              <a:rPr sz="1800" b="0">
                <a:solidFill>
                  <a:srgbClr val="DCEBE2"/>
                </a:solidFill>
                <a:latin typeface="Inter"/>
                <a:ea typeface="Inter"/>
                <a:cs typeface="Inter"/>
              </a:rPr>
              <a:t>Fragen</a:t>
            </a:r>
          </a:p>
        </p:txBody>
      </p:sp>
    </p:spTree>
    <p:extLst>
      <p:ext uri="{BB962C8B-B14F-4D97-AF65-F5344CB8AC3E}">
        <p14:creationId xmlns:p14="http://schemas.microsoft.com/office/powerpoint/2010/main" val="72152408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2026-10-01T08:36:57.6870000Z</dcterms:created>
  <dcterms:modified xsi:type="dcterms:W3CDTF">2026-10-01T08:36:57.6870000Z</dcterms:modified>
</coreProperties>
</file>