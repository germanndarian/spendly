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dfca98f633f4d1b" /><Relationship Type="http://schemas.openxmlformats.org/officeDocument/2006/relationships/extended-properties" Target="/docProps/app.xml" Id="R3161d893154e4549" /><Relationship Type="http://schemas.openxmlformats.org/officeDocument/2006/relationships/officeDocument" Target="/ppt/presentation.xml" Id="R265bbba4f39645f1" /></Relationships>
</file>

<file path=ppt/presentation.xml><?xml version="1.0" encoding="utf-8"?>
<p:presentation xmlns:p="http://schemas.openxmlformats.org/presentationml/2006/main">
  <p:sldMasterIdLst>
    <p:sldMasterId xmlns:r="http://schemas.openxmlformats.org/officeDocument/2006/relationships" id="2147483648" r:id="Re5c093cf7e704b2e"/>
  </p:sldMasterIdLst>
  <p:notesMasterIdLst>
    <p:notesMasterId xmlns:r="http://schemas.openxmlformats.org/officeDocument/2006/relationships" r:id="Ra37a072923744fd6"/>
  </p:notesMasterIdLst>
  <p:sldIdLst>
    <p:sldId xmlns:r="http://schemas.openxmlformats.org/officeDocument/2006/relationships" id="256" r:id="R4471962a1b6a43d0"/>
    <p:sldId xmlns:r="http://schemas.openxmlformats.org/officeDocument/2006/relationships" id="257" r:id="R81c2ca057d00470f"/>
    <p:sldId xmlns:r="http://schemas.openxmlformats.org/officeDocument/2006/relationships" id="258" r:id="R3c93456cf0064715"/>
    <p:sldId xmlns:r="http://schemas.openxmlformats.org/officeDocument/2006/relationships" id="259" r:id="R06c6203881f4436a"/>
    <p:sldId xmlns:r="http://schemas.openxmlformats.org/officeDocument/2006/relationships" id="260" r:id="Rf90df02d9af1413f"/>
    <p:sldId xmlns:r="http://schemas.openxmlformats.org/officeDocument/2006/relationships" id="261" r:id="R43e390562c0443a3"/>
    <p:sldId xmlns:r="http://schemas.openxmlformats.org/officeDocument/2006/relationships" id="262" r:id="R81677bfd054842d2"/>
    <p:sldId xmlns:r="http://schemas.openxmlformats.org/officeDocument/2006/relationships" id="263" r:id="Re30ae793a26445a4"/>
    <p:sldId xmlns:r="http://schemas.openxmlformats.org/officeDocument/2006/relationships" id="264" r:id="Rc744d64de1954e20"/>
    <p:sldId xmlns:r="http://schemas.openxmlformats.org/officeDocument/2006/relationships" id="265" r:id="R8155a8d476ee40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c79d196f034c01" /><Relationship Type="http://schemas.openxmlformats.org/officeDocument/2006/relationships/slideMaster" Target="/ppt/slideMasters/slideMaster1.xml" Id="Re5c093cf7e704b2e" /><Relationship Type="http://schemas.openxmlformats.org/officeDocument/2006/relationships/notesMaster" Target="/ppt/notesMasters/notesMaster1.xml" Id="Ra37a072923744fd6" /><Relationship Type="http://schemas.openxmlformats.org/officeDocument/2006/relationships/presProps" Target="/ppt/presProps.xml" Id="Rccd38c7fdba040a9" /><Relationship Type="http://schemas.openxmlformats.org/officeDocument/2006/relationships/tableStyles" Target="/ppt/tableStyles.xml" Id="Ref01b6a9428b4bf6" /><Relationship Type="http://schemas.openxmlformats.org/officeDocument/2006/relationships/slide" Target="/ppt/slides/slide1.xml" Id="R4471962a1b6a43d0" /><Relationship Type="http://schemas.openxmlformats.org/officeDocument/2006/relationships/slide" Target="/ppt/slides/slide2.xml" Id="R81c2ca057d00470f" /><Relationship Type="http://schemas.openxmlformats.org/officeDocument/2006/relationships/slide" Target="/ppt/slides/slide3.xml" Id="R3c93456cf0064715" /><Relationship Type="http://schemas.openxmlformats.org/officeDocument/2006/relationships/slide" Target="/ppt/slides/slide4.xml" Id="R06c6203881f4436a" /><Relationship Type="http://schemas.openxmlformats.org/officeDocument/2006/relationships/slide" Target="/ppt/slides/slide5.xml" Id="Rf90df02d9af1413f" /><Relationship Type="http://schemas.openxmlformats.org/officeDocument/2006/relationships/slide" Target="/ppt/slides/slide6.xml" Id="R43e390562c0443a3" /><Relationship Type="http://schemas.openxmlformats.org/officeDocument/2006/relationships/slide" Target="/ppt/slides/slide7.xml" Id="R81677bfd054842d2" /><Relationship Type="http://schemas.openxmlformats.org/officeDocument/2006/relationships/slide" Target="/ppt/slides/slide8.xml" Id="Re30ae793a26445a4" /><Relationship Type="http://schemas.openxmlformats.org/officeDocument/2006/relationships/slide" Target="/ppt/slides/slide9.xml" Id="Rc744d64de1954e20" /><Relationship Type="http://schemas.openxmlformats.org/officeDocument/2006/relationships/slide" Target="/ppt/slides/slide10.xml" Id="R8155a8d476ee40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f603593c1843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d2257e7f594f4a" /><Relationship Type="http://schemas.openxmlformats.org/officeDocument/2006/relationships/notesMaster" Target="/ppt/notesMasters/notesMaster1.xml" Id="Re8e42a0a5ec04a2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48faba02c4b4737" /><Relationship Type="http://schemas.openxmlformats.org/officeDocument/2006/relationships/notesMaster" Target="/ppt/notesMasters/notesMaster1.xml" Id="Rc957f306c14340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019faa36ea4117" /><Relationship Type="http://schemas.openxmlformats.org/officeDocument/2006/relationships/notesMaster" Target="/ppt/notesMasters/notesMaster1.xml" Id="R8b7762e8a50e41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0ed9dc5f3344a4" /><Relationship Type="http://schemas.openxmlformats.org/officeDocument/2006/relationships/notesMaster" Target="/ppt/notesMasters/notesMaster1.xml" Id="R1d92c643f33a42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87b58113f744916" /><Relationship Type="http://schemas.openxmlformats.org/officeDocument/2006/relationships/notesMaster" Target="/ppt/notesMasters/notesMaster1.xml" Id="R9f37fd71c6de40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6c4c54303d4482" /><Relationship Type="http://schemas.openxmlformats.org/officeDocument/2006/relationships/notesMaster" Target="/ppt/notesMasters/notesMaster1.xml" Id="R54e88d3be6a348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ebd8a262109c4483" /><Relationship Type="http://schemas.openxmlformats.org/officeDocument/2006/relationships/notesMaster" Target="/ppt/notesMasters/notesMaster1.xml" Id="Rbba704f03fff4ba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4b7f384ab448cf" /><Relationship Type="http://schemas.openxmlformats.org/officeDocument/2006/relationships/notesMaster" Target="/ppt/notesMasters/notesMaster1.xml" Id="Rcbb806b4faa9454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d76569d2f648a4" /><Relationship Type="http://schemas.openxmlformats.org/officeDocument/2006/relationships/notesMaster" Target="/ppt/notesMasters/notesMaster1.xml" Id="Rbc4b3cc6328849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3a02d9af56460a" /><Relationship Type="http://schemas.openxmlformats.org/officeDocument/2006/relationships/notesMaster" Target="/ppt/notesMasters/notesMaster1.xml" Id="R5268e7fbd62c45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0:35</a:t>
            </a:r>
          </a:p>
          <a:p xmlns:a="http://schemas.openxmlformats.org/drawingml/2006/main">
            <a:r>
              <a:t/>
            </a:r>
          </a:p>
          <a:p xmlns:a="http://schemas.openxmlformats.org/drawingml/2006/main">
            <a:r>
              <a:t>Darian: Wie entscheidet ihr, was ihr euch heute noch leisten könnt?</a:t>
            </a:r>
          </a:p>
          <a:p xmlns:a="http://schemas.openxmlformats.org/drawingml/2006/main">
            <a:r>
              <a:t/>
            </a:r>
          </a:p>
          <a:p xmlns:a="http://schemas.openxmlformats.org/drawingml/2006/main">
            <a:r>
              <a:t>[Die Frage wirken lassen. Etwa fünf Sekunden warten, dann ein bis zwei kurze Antworten aufnehmen. Keine privaten Beträge verlangen.]</a:t>
            </a:r>
          </a:p>
          <a:p xmlns:a="http://schemas.openxmlformats.org/drawingml/2006/main">
            <a:r>
              <a:t/>
            </a:r>
          </a:p>
          <a:p xmlns:a="http://schemas.openxmlformats.org/drawingml/2006/main">
            <a:r>
              <a:t>Vielleicht schaut ihr auf den Kontostand. Vielleicht überschlagt ihr es im Kopf. Genau bei dieser Entscheidung beginnt unser Projekt. Wir wollten wissen: Wie können wir kleine Ausgaben so sichtbar machen, dass das restliche Monatsbudget verständlich bleibt?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0:40</a:t>
            </a:r>
          </a:p>
          <a:p xmlns:a="http://schemas.openxmlformats.org/drawingml/2006/main">
            <a:r>
              <a:t/>
            </a:r>
          </a:p>
          <a:p xmlns:a="http://schemas.openxmlformats.org/drawingml/2006/main">
            <a:r>
              <a:t>Darian: Ein Kaffee für vier Franken fünfzig. Ein Mittagessen für zwölf Franken achtzig. Ein Musikabo für dreizehn Franken fünfundneunzig. Jede Zahlung ist für sich überschaubar. Zusammen sind es bereits einunddreissig Franken fünfundzwanzig. Das ist ein Beispiel, keine Statistik über unsere Zielgruppe. Gerade beim ersten eigenen Lohn oder einem festen Monatsbudget hilft es, diese Beträge zusammen zu sehen. Unsere Aufgabe aus LB1 war deshalb klar: eine einfache App für Lernende und Studierende, die Ausgaben in Franken erfasst und das verbleibende Budget zeigt.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Beispielrechnung: CHF 4.50 + CHF 12.80 + CHF 13.95 = CHF 31.25. Keine Marktdaten oder Nutzungszahlen.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Darian: Das ist Spendly. Auf der Übersicht steht die Frage aus dem Einstieg jetzt als konkrete Zahl: Was bleibt für heute? Im gezeigten Beispiel sind es fünfundzwanzig Franken vierzehn. Spendly verteilt das restliche Monatsbudget auf die verbleibenden Kalendertage, einschliesslich heute. Diese Zahl ist eine Orientierung und reagiert auf neue Ausgaben. Betrag und Kategorie reichen für einen Eintrag. Im Verlauf könnt ihr eine Ausgabe wiederfinden und korrigieren. Ein eigenes Budget pro Monat hält ältere Werte getrennt. Für den Einstieg braucht es kein Konto und keine Verbindung zu einer Bank. Die Daten liegen auf dem Gerät. Wir zeigen euch jetzt, wie sich das im Alltag anfühlt.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Quellcode: https://github.com/germanndarian/Spendly. Prüfstand 01.10.2026, finale Quelldateien in der LB3-Abgabe.</a:t>
            </a:r>
          </a:p>
          <a:p xmlns:a="http://schemas.openxmlformats.org/drawingml/2006/main">
            <a:r>
              <a:t>Datei: screens/OverviewScreen.js</a:t>
            </a:r>
          </a:p>
          <a:p xmlns:a="http://schemas.openxmlformats.org/drawingml/2006/main">
            <a:r>
              <a:t>Datei: utils/budget.js</a:t>
            </a:r>
          </a:p>
          <a:p xmlns:a="http://schemas.openxmlformats.org/drawingml/2006/main">
            <a:r>
              <a:t>Datei: screens/NewExpenseScreen.js</a:t>
            </a:r>
          </a:p>
          <a:p xmlns:a="http://schemas.openxmlformats.org/drawingml/2006/main">
            <a:r>
              <a:t>Datei: storage/budgets.js</a:t>
            </a:r>
          </a:p>
          <a:p xmlns:a="http://schemas.openxmlformats.org/drawingml/2006/main">
            <a:r>
              <a:t>Produktbild: tatsächlicher eigener iOS-Release-Build, Demo-Budget Oktober 2026 CHF 800.00, Ausgaben CHF 20.40, 31 Kalendertage.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2:00</a:t>
            </a:r>
          </a:p>
          <a:p xmlns:a="http://schemas.openxmlformats.org/drawingml/2006/main">
            <a:r>
              <a:t/>
            </a:r>
          </a:p>
          <a:p xmlns:a="http://schemas.openxmlformats.org/drawingml/2006/main">
            <a:r>
              <a:t>Alex erklärt, Darian bedient die App. Bei der Aufnahme erklären beide die sichtbaren Schritte.</a:t>
            </a:r>
          </a:p>
          <a:p xmlns:a="http://schemas.openxmlformats.org/drawingml/2006/main">
            <a:r>
              <a:t/>
            </a:r>
          </a:p>
          <a:p xmlns:a="http://schemas.openxmlformats.org/drawingml/2006/main">
            <a:r>
              <a:t>Alex: Stellt euch vor, ihr kommt gerade vom Mittagessen. Wir erfassen jetzt genau diese Ausgabe.</a:t>
            </a:r>
          </a:p>
          <a:p xmlns:a="http://schemas.openxmlformats.org/drawingml/2006/main">
            <a:r>
              <a:t/>
            </a:r>
          </a:p>
          <a:p xmlns:a="http://schemas.openxmlformats.org/drawingml/2006/main">
            <a:r>
              <a:t>0:00–0:15: Spendly entsperren. Den Demo-PIN 111111 verwenden. Face ID nur als Live-Scan zeigen, wenn es am Präsentationsgerät erfolgreich geprüft wurde.</a:t>
            </a:r>
          </a:p>
          <a:p xmlns:a="http://schemas.openxmlformats.org/drawingml/2006/main">
            <a:r>
              <a:t>0:15–0:40: CHF 14.80, Essen &amp; Trinken, «Mittagessen», heutiges Datum eingeben und speichern.</a:t>
            </a:r>
          </a:p>
          <a:p xmlns:a="http://schemas.openxmlformats.org/drawingml/2006/main">
            <a:r>
              <a:t>0:40–0:55: Alex: Der Eintrag ist gespeichert. Gleichzeitig verändert sich die Tagesorientierung. Wir sehen direkt, was vom Monatsbudget bleibt.</a:t>
            </a:r>
          </a:p>
          <a:p xmlns:a="http://schemas.openxmlformats.org/drawingml/2006/main">
            <a:r>
              <a:t>0:55–1:15: Im Verlauf «Mittagessen» suchen. CHF 14.80 auf CHF 12.80 ändern und speichern.</a:t>
            </a:r>
          </a:p>
          <a:p xmlns:a="http://schemas.openxmlformats.org/drawingml/2006/main">
            <a:r>
              <a:t>1:15–1:35: Den Eintrag löschen und innerhalb der fünf Sekunden «Rückgängig» wählen.</a:t>
            </a:r>
          </a:p>
          <a:p xmlns:a="http://schemas.openxmlformats.org/drawingml/2006/main">
            <a:r>
              <a:t>1:35–2:00: App vollständig beenden und neu öffnen. Mit PIN 111111 entsperren und den erhaltenen Eintrag zeigen. Alex: Die Ausgabe bleibt auch nach einem Neustart erhalten.</a:t>
            </a:r>
          </a:p>
          <a:p xmlns:a="http://schemas.openxmlformats.org/drawingml/2006/main">
            <a:r>
              <a:t/>
            </a:r>
          </a:p>
          <a:p xmlns:a="http://schemas.openxmlformats.org/drawingml/2006/main">
            <a:r>
              <a:t>Wenn die Live-Demo nach 15 Sekunden nicht läuft, auf das beigefügte Video wechseln. Die Aufnahme dauert 2:06 und hat keinen Ton. Mit Video verlängert sich die Zielzeit von 8:55 auf etwa 9:01. Vor einer neuen Live-Demo den Beispieldatensatz prüfen, damit nicht bereits ein zweiter identischer Mittagessen-Eintrag besteht.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Quellcode: https://github.com/germanndarian/Spendly. Prüfstand 01.10.2026, finale Quelldateien in der LB3-Abgabe.</a:t>
            </a:r>
          </a:p>
          <a:p xmlns:a="http://schemas.openxmlformats.org/drawingml/2006/main">
            <a:r>
              <a:t>Datei: screens/NewExpenseScreen.js</a:t>
            </a:r>
          </a:p>
          <a:p xmlns:a="http://schemas.openxmlformats.org/drawingml/2006/main">
            <a:r>
              <a:t>Datei: screens/HistoryScreen.js</a:t>
            </a:r>
          </a:p>
          <a:p xmlns:a="http://schemas.openxmlformats.org/drawingml/2006/main">
            <a:r>
              <a:t>Datei: storage/DataContext.js</a:t>
            </a:r>
          </a:p>
          <a:p xmlns:a="http://schemas.openxmlformats.org/drawingml/2006/main">
            <a:r>
              <a:t>Datei: storage/expenses.js</a:t>
            </a:r>
          </a:p>
          <a:p xmlns:a="http://schemas.openxmlformats.org/drawingml/2006/main">
            <a:r>
              <a:t>Aktueller Nachweis: Eigener iOS-Release-Build: Erstellen, Bearbeiten, Löschen, Rückgängig und Neustart ohne Entwicklungsserver geprüft. Aufnahme liegt bei.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0:55</a:t>
            </a:r>
          </a:p>
          <a:p xmlns:a="http://schemas.openxmlformats.org/drawingml/2006/main">
            <a:r>
              <a:t/>
            </a:r>
          </a:p>
          <a:p xmlns:a="http://schemas.openxmlformats.org/drawingml/2006/main">
            <a:r>
              <a:t>Alex: Ausgaben können persönlich sein. Spendly speichert sie lokal, ohne Konto und ohne eigenen Server. Die App-Sperre nutzt eine Funktion des Smartphones. Stellt euch das Betriebssystem als Türsteher vor: Spendly fragt, ob die Person das Gerät entsperren darf. Das Gerät prüft Gesicht oder Fingerabdruck. Die App erhält nur das Ergebnis, kein Foto und keinen Fingerabdruck. Als Alternative gibt es einen eigenen sechsstelligen Code. Nach fünf falschen Versuchen wartet die App dreissig Sekunden. Weitere Fehler verlängern diese Zeit, und ein Neustart setzt sie nicht zurück. Die Grenze ist klar: Die App-Sperre verschlüsselt die SQLite-Datei nicht zusätzlich. Der native Face-ID-Dialog funktioniert im Simulator. Ein echter Scan bleibt offen, weil Xcode unser physisches iPhone nicht erreichen konnte.</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Expo LocalAuthentication: https://docs.expo.dev/versions/latest/sdk/local-authentication/ (abgerufen 01.10.2026).</a:t>
            </a:r>
          </a:p>
          <a:p xmlns:a="http://schemas.openxmlformats.org/drawingml/2006/main">
            <a:r>
              <a:t>Expo SecureStore: https://docs.expo.dev/versions/latest/sdk/securestore/ (abgerufen 01.10.2026).</a:t>
            </a:r>
          </a:p>
          <a:p xmlns:a="http://schemas.openxmlformats.org/drawingml/2006/main">
            <a:r>
              <a:t>Expo SQLite: https://docs.expo.dev/versions/latest/sdk/sqlite/ (abgerufen 01.10.2026).</a:t>
            </a:r>
          </a:p>
          <a:p xmlns:a="http://schemas.openxmlformats.org/drawingml/2006/main">
            <a:r>
              <a:t>Quellcode: https://github.com/germanndarian/Spendly. Prüfstand 01.10.2026, finale Quelldateien in der LB3-Abgabe.</a:t>
            </a:r>
          </a:p>
          <a:p xmlns:a="http://schemas.openxmlformats.org/drawingml/2006/main">
            <a:r>
              <a:t>Datei: utils/biometrics.js</a:t>
            </a:r>
          </a:p>
          <a:p xmlns:a="http://schemas.openxmlformats.org/drawingml/2006/main">
            <a:r>
              <a:t>Datei: storage/pin.js</a:t>
            </a:r>
          </a:p>
          <a:p xmlns:a="http://schemas.openxmlformats.org/drawingml/2006/main">
            <a:r>
              <a:t>Datei: screens/LockScreen.js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Darian: Rechts läuft die App, links steht der ursprüngliche Entwurf. Der Betrag ist in beiden der Mittelpunkt. Die Kategorie ist direkt erreichbar. Grün, der warme Hintergrund und die Schrift bei den Beträgen bleiben Teil des Designs. Wir haben zuerst Oberfläche und Navigation umgesetzt. Danach kamen Speicherung und Gerätesperre. Anschliessend haben wir Fehlerfälle und Tests ergänzt. Für LB3 verglichen wir den Code nochmals mit dem Konzept. Getrennte Monatsbudgets und dauerhafte Fristen haben wir vervollständigt. Dark Mode erweitert den geplanten Umfang. Dabei war eine Erkenntnis entscheidend: Die App braucht auch bei einer falschen Eingabe oder einer abgebrochenen Aktion einen klaren Zustand.</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Quellcode: https://github.com/germanndarian/Spendly. Prüfstand 01.10.2026, finale Quelldateien in der LB3-Abgabe.</a:t>
            </a:r>
          </a:p>
          <a:p xmlns:a="http://schemas.openxmlformats.org/drawingml/2006/main">
            <a:r>
              <a:t>Datei: theme/colors.js</a:t>
            </a:r>
          </a:p>
          <a:p xmlns:a="http://schemas.openxmlformats.org/drawingml/2006/main">
            <a:r>
              <a:t>Datei: theme/typography.js</a:t>
            </a:r>
          </a:p>
          <a:p xmlns:a="http://schemas.openxmlformats.org/drawingml/2006/main">
            <a:r>
              <a:t>Datei: screens/NewExpenseScreen.js</a:t>
            </a:r>
          </a:p>
          <a:p xmlns:a="http://schemas.openxmlformats.org/drawingml/2006/main">
            <a:r>
              <a:t>Vorgehen: Git-Commits 5f4b8f3 (23.09.2026), 958eed7 (24.09.2026), 686081d und 633fb0f (25.09.2026).</a:t>
            </a:r>
          </a:p>
          <a:p xmlns:a="http://schemas.openxmlformats.org/drawingml/2006/main">
            <a:r>
              <a:t>Bild links: LB1_Spendly/Mockups/03-neue-ausgabe.png. Bild rechts: eigene native Aufnahme.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0:50</a:t>
            </a:r>
          </a:p>
          <a:p xmlns:a="http://schemas.openxmlformats.org/drawingml/2006/main">
            <a:r>
              <a:t/>
            </a:r>
          </a:p>
          <a:p xmlns:a="http://schemas.openxmlformats.org/drawingml/2006/main">
            <a:r>
              <a:t>Alex: Hinter dem kurzen Ablauf steckt eine getrennte Struktur. Das Formular prüft die Eingabe. Der gemeinsame DataContext führt die Aktion aus. SQLite speichert sie, danach aktualisieren sich die Ansichten. Die Methoden und Kommentare erklären diese Aufgaben im Code. Geld liegt als ganze Rappen in der Datenbank. Aus vierzehn Franken achtzig wird die Zahl eintausendvierhundertachtzig. Beim Monatsbudget behalten wir für jeden Monat einen eigenen Wert. Beim Löschen speichern wir die fünf Sekunden lange Frist, damit ein Neustart sie nicht verändert. Beides entspricht dem Konzept. Eine Abweichung bleibt beim Code-Prüfwert: SHA-256 mit zufälligem Salt in SecureStore ist einfacher als die geplante langsame Passwortableitung. Diese Grenze haben wir dokumentiert.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Expo SQLite: https://docs.expo.dev/versions/latest/sdk/sqlite/ (abgerufen 01.10.2026).</a:t>
            </a:r>
          </a:p>
          <a:p xmlns:a="http://schemas.openxmlformats.org/drawingml/2006/main">
            <a:r>
              <a:t>Expo SecureStore: https://docs.expo.dev/versions/latest/sdk/securestore/ (abgerufen 01.10.2026).</a:t>
            </a:r>
          </a:p>
          <a:p xmlns:a="http://schemas.openxmlformats.org/drawingml/2006/main">
            <a:r>
              <a:t>Quellcode: https://github.com/germanndarian/Spendly. Prüfstand 01.10.2026, finale Quelldateien in der LB3-Abgabe.</a:t>
            </a:r>
          </a:p>
          <a:p xmlns:a="http://schemas.openxmlformats.org/drawingml/2006/main">
            <a:r>
              <a:t>Datei: screens/NewExpenseScreen.js</a:t>
            </a:r>
          </a:p>
          <a:p xmlns:a="http://schemas.openxmlformats.org/drawingml/2006/main">
            <a:r>
              <a:t>Datei: utils/validation.js</a:t>
            </a:r>
          </a:p>
          <a:p xmlns:a="http://schemas.openxmlformats.org/drawingml/2006/main">
            <a:r>
              <a:t>Datei: storage/DataContext.js</a:t>
            </a:r>
          </a:p>
          <a:p xmlns:a="http://schemas.openxmlformats.org/drawingml/2006/main">
            <a:r>
              <a:t>Datei: storage/budgets.js</a:t>
            </a:r>
          </a:p>
          <a:p xmlns:a="http://schemas.openxmlformats.org/drawingml/2006/main">
            <a:r>
              <a:t>Datei: storage/expenses.js</a:t>
            </a:r>
          </a:p>
          <a:p xmlns:a="http://schemas.openxmlformats.org/drawingml/2006/main">
            <a:r>
              <a:t>Datei: storage/pin.js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Alex: Wir können den Kern heute zeigen. Einundneunzig automatisierte Tests in neun Suiten bestehen. Sie prüfen Berechnungen, Eingaben, PIN-Sperren und die Speicherung. Die SQLite-Regressionen führen echtes SQL aus. ESLint meldet keine Fehler. Zusätzlich haben wir den vollständigen Ablauf im eigenen iOS-Release-Build geprüft: erfassen, korrigieren, löschen, zurückholen und nach einem vollständigen Neustart wiederfinden. Dabei war der Entwicklungsserver gestoppt. Auch alte Monatsbudgets und Dark Mode wurden geprüft. Das ist technischer Nachweis. Ob Lernende Spendly täglich nutzen und die Tagesorientierung verstehen, müssen wir als Nächstes mit ihnen testen. Ein erfolgreicher Simulator-Dialog ersetzt auch keinen echten Gesichtsscan.</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Quellcode: https://github.com/germanndarian/Spendly. Prüfstand 01.10.2026, finale Quelldateien in der LB3-Abgabe.</a:t>
            </a:r>
          </a:p>
          <a:p xmlns:a="http://schemas.openxmlformats.org/drawingml/2006/main">
            <a:r>
              <a:t>Datei: utils/__tests__/</a:t>
            </a:r>
          </a:p>
          <a:p xmlns:a="http://schemas.openxmlformats.org/drawingml/2006/main">
            <a:r>
              <a:t>Datei: storage/__tests__/</a:t>
            </a:r>
          </a:p>
          <a:p xmlns:a="http://schemas.openxmlformats.org/drawingml/2006/main">
            <a:r>
              <a:t>Datei: screens/__tests__/LockScreen.test.js</a:t>
            </a:r>
          </a:p>
          <a:p xmlns:a="http://schemas.openxmlformats.org/drawingml/2006/main">
            <a:r>
              <a:t>Prüfprotokoll: 01.10.2026: 91/91 Tests in 9 Suiten, ESLint und Diff-Prüfung erfolgreich. Native Release-Builds für iOS-Simulator und iPhone erfolgreich. Simulatorablauf und simulierte Face ID im technischen Testprotokoll; echte Geräteerkennung offen.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0:55</a:t>
            </a:r>
          </a:p>
          <a:p xmlns:a="http://schemas.openxmlformats.org/drawingml/2006/main">
            <a:r>
              <a:t/>
            </a:r>
          </a:p>
          <a:p xmlns:a="http://schemas.openxmlformats.org/drawingml/2006/main">
            <a:r>
              <a:t>Darian: Der nächste Schritt wäre eine kleine Alltagsprobe: fünf Lernende oder Studierende nutzen Spendly eine Woche. Das ist unser Vorschlag, kein bereits durchgeführter Pilot. Wir würden beobachten, wie schnell eine Erfassung gelingt, ob die Tagesorientierung verständlich ist und ob die Personen freiwillig wiederkommen. Erst danach lässt sich entscheiden, welche Erweiterung hilfreich ist und ob ein Geschäftsmodell Sinn ergibt. Vor einem Launch gehören auch der echte iPhone-Test, Android und Screenreader dazu. Aus der Entwicklung nehmen wir mit, Fehlerfälle früher zu planen. Ein altes Monatsbudget darf sich beim Ändern des neuen Monats nicht verschieben. Ein Neustart darf keine Sperrfrist zurücksetzen. Diese Erfahrungen würden wir im nächsten Durchgang schon beim Entwurf berücksichtigen.</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Quellcode: https://github.com/germanndarian/Spendly. Prüfstand 01.10.2026, finale Quelldateien in der LB3-Abgabe.</a:t>
            </a:r>
          </a:p>
          <a:p xmlns:a="http://schemas.openxmlformats.org/drawingml/2006/main">
            <a:r>
              <a:t>Datei: storage/budgets.js</a:t>
            </a:r>
          </a:p>
          <a:p xmlns:a="http://schemas.openxmlformats.org/drawingml/2006/main">
            <a:r>
              <a:t>Datei: storage/pin.js</a:t>
            </a:r>
          </a:p>
          <a:p xmlns:a="http://schemas.openxmlformats.org/drawingml/2006/main">
            <a:r>
              <a:t>Datei: screens/NewExpenseScreen.js</a:t>
            </a:r>
          </a:p>
          <a:p xmlns:a="http://schemas.openxmlformats.org/drawingml/2006/main">
            <a:r>
              <a:t>Die fünf Personen und eine Woche sind ein vorgeschlagener Nutzertest. Keine bestätigten Nutzer, Umsätze oder Finanzierungsrunde.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Darian: Am Anfang haben wir gefragt, wie ihr entscheidet, was ihr euch heute noch leisten könnt. Spendly macht einen Teil dieser Entscheidung sichtbar: eure erfassten Ausgaben und das restliche Monatsbudget. Wir haben eine funktionierende App gebaut, den Entwurf weiterentwickelt und die wichtigsten Abläufe geprüft. Jetzt interessiert uns euer Blick als mögliche Nutzerinnen und Nutzer. Welche Ausgabe würdet ihr zuerst erfassen? Und was müsste Spendly können, damit ihr es auch nächste Woche noch öffnet?</a:t>
            </a:r>
          </a:p>
          <a:p xmlns:a="http://schemas.openxmlformats.org/drawingml/2006/main">
            <a:r>
              <a:t/>
            </a:r>
          </a:p>
          <a:p xmlns:a="http://schemas.openxmlformats.org/drawingml/2006/main">
            <a:r>
              <a:t>[Eine kurze Antwort aufnehmen und in die Fragerunde überleiten.]</a:t>
            </a:r>
          </a:p>
          <a:p xmlns:a="http://schemas.openxmlformats.org/drawingml/2006/main">
            <a:r>
              <a:t/>
            </a:r>
          </a:p>
          <a:p xmlns:a="http://schemas.openxmlformats.org/drawingml/2006/main">
            <a:r>
              <a:t>Vielen Dank. Wir beantworten gerne eure Fragen zur Idee, zur App und zur technischen Umsetzung.</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Quellcode: https://github.com/germanndarian/Spendly. Prüfstand 01.10.2026, finale Quelldateien in der LB3-Abgabe.</a:t>
            </a:r>
          </a:p>
          <a:p xmlns:a="http://schemas.openxmlformats.org/drawingml/2006/main">
            <a:r>
              <a:t>Datei: screens/OverviewScreen.js</a:t>
            </a:r>
          </a:p>
          <a:p xmlns:a="http://schemas.openxmlformats.org/drawingml/2006/main">
            <a:r>
              <a:t>Datei: utils/budget.js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2f1ca6baeb40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9cf30ccde14485" /><Relationship Type="http://schemas.openxmlformats.org/officeDocument/2006/relationships/slideLayout" Target="/ppt/slideLayouts/slideLayout1.xml" Id="Re0ffd5f4382140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0ffd5f4382140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88980384694d05" /><Relationship Type="http://schemas.openxmlformats.org/officeDocument/2006/relationships/notesSlide" Target="/ppt/notesSlides/notesSlide1.xml" Id="R67d11cd6e8ad4a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b92fd0cb33046fc" /><Relationship Type="http://schemas.openxmlformats.org/officeDocument/2006/relationships/notesSlide" Target="/ppt/notesSlides/notesSlide2.xml" Id="R5b8b7327e5774b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58147c4fd34ca7" /><Relationship Type="http://schemas.openxmlformats.org/officeDocument/2006/relationships/image" Target="/ppt/media/image.png" Id="R718d75720fe94779" /><Relationship Type="http://schemas.openxmlformats.org/officeDocument/2006/relationships/notesSlide" Target="/ppt/notesSlides/notesSlide3.xml" Id="Redafca1e78a546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46e0b196dfe421c" /><Relationship Type="http://schemas.openxmlformats.org/officeDocument/2006/relationships/image" Target="/ppt/media/image2.png" Id="R5852119e8f974801" /><Relationship Type="http://schemas.openxmlformats.org/officeDocument/2006/relationships/notesSlide" Target="/ppt/notesSlides/notesSlide4.xml" Id="Rf7edd26cceb148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d21419c86f54a9d" /><Relationship Type="http://schemas.openxmlformats.org/officeDocument/2006/relationships/image" Target="/ppt/media/image3.png" Id="R7d329a19980543ea" /><Relationship Type="http://schemas.openxmlformats.org/officeDocument/2006/relationships/notesSlide" Target="/ppt/notesSlides/notesSlide5.xml" Id="Re0b660203f5e4b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003496dc5814e51" /><Relationship Type="http://schemas.openxmlformats.org/officeDocument/2006/relationships/image" Target="/ppt/media/image4.png" Id="R806e8e1e1c1c4200" /><Relationship Type="http://schemas.openxmlformats.org/officeDocument/2006/relationships/image" Target="/ppt/media/image5.png" Id="R26ac0357b1264b0b" /><Relationship Type="http://schemas.openxmlformats.org/officeDocument/2006/relationships/notesSlide" Target="/ppt/notesSlides/notesSlide6.xml" Id="R9e3c3c4a015045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02856c118e54309" /><Relationship Type="http://schemas.openxmlformats.org/officeDocument/2006/relationships/notesSlide" Target="/ppt/notesSlides/notesSlide7.xml" Id="R6a7f63d7132943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ea840088f9f483f" /><Relationship Type="http://schemas.openxmlformats.org/officeDocument/2006/relationships/notesSlide" Target="/ppt/notesSlides/notesSlide8.xml" Id="Rd26301e4a2074f4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695825822cb4d6c" /><Relationship Type="http://schemas.openxmlformats.org/officeDocument/2006/relationships/notesSlide" Target="/ppt/notesSlides/notesSlide9.xml" Id="Rab6a32fe485540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079d7ae34024fe8" /><Relationship Type="http://schemas.openxmlformats.org/officeDocument/2006/relationships/notesSlide" Target="/ppt/notesSlides/notesSlide10.xml" Id="Rdadde67bde4c4c3a" /></Relationships>
</file>

<file path=ppt/slides/slide1.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E6DC4BD-200B-4336-8706-1A8D3EE7F618}"/>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1</a:t>
            </a:r>
          </a:p>
        </p:txBody>
      </p:sp>
      <p:sp>
        <p:nvSpPr>
          <p:cNvPr id="2" name="">
            <a:extLst xmlns:a="http://schemas.openxmlformats.org/drawingml/2006/main">
              <a:ext uri="{FF2B5EF4-FFF2-40B4-BE49-F238E27FC236}">
                <a16:creationId xmlns:a16="http://schemas.microsoft.com/office/drawing/2014/main" id="{AAA9DDFC-1119-402F-BE0B-8F77200840BB}"/>
              </a:ext>
            </a:extLst>
          </p:cNvPr>
          <p:cNvSpPr>
            <a:spLocks xmlns:a="http://schemas.openxmlformats.org/drawingml/2006/main" noGrp="1"/>
          </p:cNvSpPr>
          <p:nvPr/>
        </p:nvSpPr>
        <p:spPr>
          <a:xfrm xmlns:a="http://schemas.openxmlformats.org/drawingml/2006/main">
            <a:off x="609600" y="1343025"/>
            <a:ext cx="1066800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Wie entscheidest du,</a:t>
            </a:r>
          </a:p>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was du dir heute</a:t>
            </a:r>
          </a:p>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noch leisten kannst?</a:t>
            </a:r>
          </a:p>
        </p:txBody>
      </p:sp>
      <p:sp>
        <p:nvSpPr>
          <p:cNvPr id="3" name="">
            <a:extLst xmlns:a="http://schemas.openxmlformats.org/drawingml/2006/main">
              <a:ext uri="{FF2B5EF4-FFF2-40B4-BE49-F238E27FC236}">
                <a16:creationId xmlns:a16="http://schemas.microsoft.com/office/drawing/2014/main" id="{25CC1988-9CBB-4818-B922-168AF33DA6BB}"/>
              </a:ext>
            </a:extLst>
          </p:cNvPr>
          <p:cNvSpPr>
            <a:spLocks xmlns:a="http://schemas.openxmlformats.org/drawingml/2006/main" noGrp="1"/>
          </p:cNvSpPr>
          <p:nvPr/>
        </p:nvSpPr>
        <p:spPr>
          <a:xfrm xmlns:a="http://schemas.openxmlformats.org/drawingml/2006/main">
            <a:off x="657225" y="5772150"/>
            <a:ext cx="776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Darian Germann und Alex Platret</a:t>
            </a:r>
          </a:p>
        </p:txBody>
      </p:sp>
      <p:sp>
        <p:nvSpPr>
          <p:cNvPr id="4" name="">
            <a:extLst xmlns:a="http://schemas.openxmlformats.org/drawingml/2006/main">
              <a:ext uri="{FF2B5EF4-FFF2-40B4-BE49-F238E27FC236}">
                <a16:creationId xmlns:a16="http://schemas.microsoft.com/office/drawing/2014/main" id="{D73F961F-B116-4AB2-BC0B-C77F07D486B7}"/>
              </a:ext>
            </a:extLst>
          </p:cNvPr>
          <p:cNvSpPr>
            <a:spLocks xmlns:a="http://schemas.openxmlformats.org/drawingml/2006/main" noGrp="1"/>
          </p:cNvSpPr>
          <p:nvPr/>
        </p:nvSpPr>
        <p:spPr>
          <a:xfrm xmlns:a="http://schemas.openxmlformats.org/drawingml/2006/main">
            <a:off x="8905875" y="5772150"/>
            <a:ext cx="2638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6E6D68"/>
                </a:solidFill>
                <a:latin typeface="Inter"/>
                <a:ea typeface="Inter"/>
                <a:cs typeface="Inter"/>
              </a:defRPr>
            </a:pPr>
            <a:r>
              <a:rPr sz="1650" b="0">
                <a:solidFill>
                  <a:srgbClr val="6E6D68"/>
                </a:solidFill>
                <a:latin typeface="Inter"/>
                <a:ea typeface="Inter"/>
                <a:cs typeface="Inter"/>
              </a:rPr>
              <a:t>LB3 / Modul 335</a:t>
            </a:r>
          </a:p>
        </p:txBody>
      </p:sp>
    </p:spTree>
    <p:extLst>
      <p:ext uri="{BB962C8B-B14F-4D97-AF65-F5344CB8AC3E}">
        <p14:creationId xmlns:p14="http://schemas.microsoft.com/office/powerpoint/2010/main" val="1363150488"/>
      </p:ext>
    </p:extLst>
  </p:cSld>
</p:sld>
</file>

<file path=ppt/slides/slide2.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E1242BA-E8F0-4A6A-9D69-35FD128A9DCB}"/>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2</a:t>
            </a:r>
          </a:p>
        </p:txBody>
      </p:sp>
      <p:sp>
        <p:nvSpPr>
          <p:cNvPr id="2" name="">
            <a:extLst xmlns:a="http://schemas.openxmlformats.org/drawingml/2006/main">
              <a:ext uri="{FF2B5EF4-FFF2-40B4-BE49-F238E27FC236}">
                <a16:creationId xmlns:a16="http://schemas.microsoft.com/office/drawing/2014/main" id="{0037DD46-AF23-4563-B80D-5AB63F24B9E4}"/>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Kleine Ausgaben summieren sich</a:t>
            </a:r>
          </a:p>
        </p:txBody>
      </p:sp>
      <p:sp>
        <p:nvSpPr>
          <p:cNvPr id="3" name="">
            <a:extLst xmlns:a="http://schemas.openxmlformats.org/drawingml/2006/main">
              <a:ext uri="{FF2B5EF4-FFF2-40B4-BE49-F238E27FC236}">
                <a16:creationId xmlns:a16="http://schemas.microsoft.com/office/drawing/2014/main" id="{19822F18-16FC-4F23-A6CF-A885F7198A07}"/>
              </a:ext>
            </a:extLst>
          </p:cNvPr>
          <p:cNvSpPr>
            <a:spLocks xmlns:a="http://schemas.openxmlformats.org/drawingml/2006/main" noGrp="1"/>
          </p:cNvSpPr>
          <p:nvPr/>
        </p:nvSpPr>
        <p:spPr>
          <a:xfrm xmlns:a="http://schemas.openxmlformats.org/drawingml/2006/main">
            <a:off x="609600" y="1743075"/>
            <a:ext cx="5905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CHF 31.25</a:t>
            </a:r>
          </a:p>
        </p:txBody>
      </p:sp>
      <p:sp>
        <p:nvSpPr>
          <p:cNvPr id="4" name="">
            <a:extLst xmlns:a="http://schemas.openxmlformats.org/drawingml/2006/main">
              <a:ext uri="{FF2B5EF4-FFF2-40B4-BE49-F238E27FC236}">
                <a16:creationId xmlns:a16="http://schemas.microsoft.com/office/drawing/2014/main" id="{5E1DFACB-B485-4ADD-B55D-1A36442B8EFB}"/>
              </a:ext>
            </a:extLst>
          </p:cNvPr>
          <p:cNvSpPr>
            <a:spLocks xmlns:a="http://schemas.openxmlformats.org/drawingml/2006/main" noGrp="1"/>
          </p:cNvSpPr>
          <p:nvPr/>
        </p:nvSpPr>
        <p:spPr>
          <a:xfrm xmlns:a="http://schemas.openxmlformats.org/drawingml/2006/main">
            <a:off x="657225" y="3162300"/>
            <a:ext cx="576262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5171A"/>
                </a:solidFill>
                <a:latin typeface="Inter"/>
                <a:ea typeface="Inter"/>
                <a:cs typeface="Inter"/>
              </a:defRPr>
            </a:pPr>
            <a:r>
              <a:rPr sz="2550" b="0">
                <a:solidFill>
                  <a:srgbClr val="15171A"/>
                </a:solidFill>
                <a:latin typeface="Inter"/>
                <a:ea typeface="Inter"/>
                <a:cs typeface="Inter"/>
              </a:rPr>
              <a:t>Drei kleine Zahlungen.</a:t>
            </a:r>
          </a:p>
          <a:p xmlns:a="http://schemas.openxmlformats.org/drawingml/2006/main">
            <a:pPr algn="l">
              <a:defRPr sz="2550" b="0">
                <a:solidFill>
                  <a:srgbClr val="15171A"/>
                </a:solidFill>
                <a:latin typeface="Inter"/>
                <a:ea typeface="Inter"/>
                <a:cs typeface="Inter"/>
              </a:defRPr>
            </a:pPr>
            <a:r>
              <a:rPr sz="2550" b="0">
                <a:solidFill>
                  <a:srgbClr val="15171A"/>
                </a:solidFill>
                <a:latin typeface="Inter"/>
                <a:ea typeface="Inter"/>
                <a:cs typeface="Inter"/>
              </a:rPr>
              <a:t>Ein Stück vom Monatsbudget.</a:t>
            </a:r>
          </a:p>
        </p:txBody>
      </p:sp>
      <p:sp>
        <p:nvSpPr>
          <p:cNvPr id="5" name="">
            <a:extLst xmlns:a="http://schemas.openxmlformats.org/drawingml/2006/main">
              <a:ext uri="{FF2B5EF4-FFF2-40B4-BE49-F238E27FC236}">
                <a16:creationId xmlns:a16="http://schemas.microsoft.com/office/drawing/2014/main" id="{FF6E1AAB-BE33-4765-A4FB-6C080E639471}"/>
              </a:ext>
            </a:extLst>
          </p:cNvPr>
          <p:cNvSpPr>
            <a:spLocks xmlns:a="http://schemas.openxmlformats.org/drawingml/2006/main" noGrp="1"/>
          </p:cNvSpPr>
          <p:nvPr/>
        </p:nvSpPr>
        <p:spPr>
          <a:xfrm xmlns:a="http://schemas.openxmlformats.org/drawingml/2006/main">
            <a:off x="657225" y="4943475"/>
            <a:ext cx="5619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6E6D68"/>
                </a:solidFill>
                <a:latin typeface="Inter"/>
                <a:ea typeface="Inter"/>
                <a:cs typeface="Inter"/>
              </a:defRPr>
            </a:pPr>
            <a:r>
              <a:rPr sz="1875" b="0">
                <a:solidFill>
                  <a:srgbClr val="6E6D68"/>
                </a:solidFill>
                <a:latin typeface="Inter"/>
                <a:ea typeface="Inter"/>
                <a:cs typeface="Inter"/>
              </a:rPr>
              <a:t>Für Lernende und Studierende</a:t>
            </a:r>
          </a:p>
          <a:p xmlns:a="http://schemas.openxmlformats.org/drawingml/2006/main">
            <a:pPr algn="l">
              <a:defRPr sz="1875" b="0">
                <a:solidFill>
                  <a:srgbClr val="6E6D68"/>
                </a:solidFill>
                <a:latin typeface="Inter"/>
                <a:ea typeface="Inter"/>
                <a:cs typeface="Inter"/>
              </a:defRPr>
            </a:pPr>
            <a:r>
              <a:rPr sz="1875" b="0">
                <a:solidFill>
                  <a:srgbClr val="6E6D68"/>
                </a:solidFill>
                <a:latin typeface="Inter"/>
                <a:ea typeface="Inter"/>
                <a:cs typeface="Inter"/>
              </a:rPr>
              <a:t>mit einem eigenen Monatsbudget</a:t>
            </a:r>
          </a:p>
        </p:txBody>
      </p:sp>
      <p:sp>
        <p:nvSpPr>
          <p:cNvPr id="6" name="">
            <a:extLst xmlns:a="http://schemas.openxmlformats.org/drawingml/2006/main">
              <a:ext uri="{FF2B5EF4-FFF2-40B4-BE49-F238E27FC236}">
                <a16:creationId xmlns:a16="http://schemas.microsoft.com/office/drawing/2014/main" id="{55008F34-A9A2-4D88-869E-9AB516B3770A}"/>
              </a:ext>
            </a:extLst>
          </p:cNvPr>
          <p:cNvSpPr>
            <a:spLocks xmlns:a="http://schemas.openxmlformats.org/drawingml/2006/main" noGrp="1"/>
          </p:cNvSpPr>
          <p:nvPr/>
        </p:nvSpPr>
        <p:spPr>
          <a:xfrm xmlns:a="http://schemas.openxmlformats.org/drawingml/2006/main">
            <a:off x="7429500" y="1790700"/>
            <a:ext cx="4124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F5A45"/>
                </a:solidFill>
                <a:latin typeface="Inter"/>
                <a:ea typeface="Inter"/>
                <a:cs typeface="Inter"/>
              </a:defRPr>
            </a:pPr>
            <a:r>
              <a:rPr sz="1875" b="1">
                <a:solidFill>
                  <a:srgbClr val="1F5A45"/>
                </a:solidFill>
                <a:latin typeface="Inter"/>
                <a:ea typeface="Inter"/>
                <a:cs typeface="Inter"/>
              </a:rPr>
              <a:t>Beispiel aus dem Alltag</a:t>
            </a:r>
          </a:p>
        </p:txBody>
      </p:sp>
      <p:sp>
        <p:nvSpPr>
          <p:cNvPr id="7" name="">
            <a:extLst xmlns:a="http://schemas.openxmlformats.org/drawingml/2006/main">
              <a:ext uri="{FF2B5EF4-FFF2-40B4-BE49-F238E27FC236}">
                <a16:creationId xmlns:a16="http://schemas.microsoft.com/office/drawing/2014/main" id="{2AF23667-D615-4AAD-A71B-9715DE5A1403}"/>
              </a:ext>
            </a:extLst>
          </p:cNvPr>
          <p:cNvSpPr>
            <a:spLocks xmlns:a="http://schemas.openxmlformats.org/drawingml/2006/main" noGrp="1"/>
          </p:cNvSpPr>
          <p:nvPr/>
        </p:nvSpPr>
        <p:spPr>
          <a:xfrm xmlns:a="http://schemas.openxmlformats.org/drawingml/2006/main">
            <a:off x="7429500" y="257175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Kaffee</a:t>
            </a:r>
          </a:p>
        </p:txBody>
      </p:sp>
      <p:sp>
        <p:nvSpPr>
          <p:cNvPr id="8" name="">
            <a:extLst xmlns:a="http://schemas.openxmlformats.org/drawingml/2006/main">
              <a:ext uri="{FF2B5EF4-FFF2-40B4-BE49-F238E27FC236}">
                <a16:creationId xmlns:a16="http://schemas.microsoft.com/office/drawing/2014/main" id="{B758581B-26DF-458A-9381-B71E5EFB2D94}"/>
              </a:ext>
            </a:extLst>
          </p:cNvPr>
          <p:cNvSpPr>
            <a:spLocks xmlns:a="http://schemas.openxmlformats.org/drawingml/2006/main" noGrp="1"/>
          </p:cNvSpPr>
          <p:nvPr/>
        </p:nvSpPr>
        <p:spPr>
          <a:xfrm xmlns:a="http://schemas.openxmlformats.org/drawingml/2006/main">
            <a:off x="9667875" y="2571750"/>
            <a:ext cx="1885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025" b="0">
                <a:solidFill>
                  <a:srgbClr val="15171A"/>
                </a:solidFill>
                <a:latin typeface="Inter"/>
                <a:ea typeface="Inter"/>
                <a:cs typeface="Inter"/>
              </a:defRPr>
            </a:pPr>
            <a:r>
              <a:rPr sz="2025" b="0">
                <a:solidFill>
                  <a:srgbClr val="15171A"/>
                </a:solidFill>
                <a:latin typeface="Inter"/>
                <a:ea typeface="Inter"/>
                <a:cs typeface="Inter"/>
              </a:rPr>
              <a:t>CHF 4.50</a:t>
            </a:r>
          </a:p>
        </p:txBody>
      </p:sp>
      <p:sp>
        <p:nvSpPr>
          <p:cNvPr id="9" name="">
            <a:extLst xmlns:a="http://schemas.openxmlformats.org/drawingml/2006/main">
              <a:ext uri="{FF2B5EF4-FFF2-40B4-BE49-F238E27FC236}">
                <a16:creationId xmlns:a16="http://schemas.microsoft.com/office/drawing/2014/main" id="{D3E67FBC-2152-42AD-88C1-F9FA3EA8332D}"/>
              </a:ext>
            </a:extLst>
          </p:cNvPr>
          <p:cNvSpPr>
            <a:spLocks xmlns:a="http://schemas.openxmlformats.org/drawingml/2006/main" noGrp="1"/>
          </p:cNvSpPr>
          <p:nvPr/>
        </p:nvSpPr>
        <p:spPr>
          <a:xfrm xmlns:a="http://schemas.openxmlformats.org/drawingml/2006/main">
            <a:off x="7429500" y="3124200"/>
            <a:ext cx="4124325" cy="14288"/>
          </a:xfrm>
          <a:prstGeom xmlns:a="http://schemas.openxmlformats.org/drawingml/2006/main" prst="rect">
            <a:avLst/>
          </a:prstGeom>
          <a:solidFill xmlns:a="http://schemas.openxmlformats.org/drawingml/2006/main">
            <a:srgbClr val="D6D8D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CFBD7A3-C2B3-45AC-BC34-224BDD519C2D}"/>
              </a:ext>
            </a:extLst>
          </p:cNvPr>
          <p:cNvSpPr>
            <a:spLocks xmlns:a="http://schemas.openxmlformats.org/drawingml/2006/main" noGrp="1"/>
          </p:cNvSpPr>
          <p:nvPr/>
        </p:nvSpPr>
        <p:spPr>
          <a:xfrm xmlns:a="http://schemas.openxmlformats.org/drawingml/2006/main">
            <a:off x="7429500" y="337185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Mittagessen</a:t>
            </a:r>
          </a:p>
        </p:txBody>
      </p:sp>
      <p:sp>
        <p:nvSpPr>
          <p:cNvPr id="11" name="">
            <a:extLst xmlns:a="http://schemas.openxmlformats.org/drawingml/2006/main">
              <a:ext uri="{FF2B5EF4-FFF2-40B4-BE49-F238E27FC236}">
                <a16:creationId xmlns:a16="http://schemas.microsoft.com/office/drawing/2014/main" id="{61E51398-A0D6-4389-8D09-CE75394994BF}"/>
              </a:ext>
            </a:extLst>
          </p:cNvPr>
          <p:cNvSpPr>
            <a:spLocks xmlns:a="http://schemas.openxmlformats.org/drawingml/2006/main" noGrp="1"/>
          </p:cNvSpPr>
          <p:nvPr/>
        </p:nvSpPr>
        <p:spPr>
          <a:xfrm xmlns:a="http://schemas.openxmlformats.org/drawingml/2006/main">
            <a:off x="9667875" y="3371850"/>
            <a:ext cx="1885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025" b="0">
                <a:solidFill>
                  <a:srgbClr val="15171A"/>
                </a:solidFill>
                <a:latin typeface="Inter"/>
                <a:ea typeface="Inter"/>
                <a:cs typeface="Inter"/>
              </a:defRPr>
            </a:pPr>
            <a:r>
              <a:rPr sz="2025" b="0">
                <a:solidFill>
                  <a:srgbClr val="15171A"/>
                </a:solidFill>
                <a:latin typeface="Inter"/>
                <a:ea typeface="Inter"/>
                <a:cs typeface="Inter"/>
              </a:rPr>
              <a:t>CHF 12.80</a:t>
            </a:r>
          </a:p>
        </p:txBody>
      </p:sp>
      <p:sp>
        <p:nvSpPr>
          <p:cNvPr id="12" name="">
            <a:extLst xmlns:a="http://schemas.openxmlformats.org/drawingml/2006/main">
              <a:ext uri="{FF2B5EF4-FFF2-40B4-BE49-F238E27FC236}">
                <a16:creationId xmlns:a16="http://schemas.microsoft.com/office/drawing/2014/main" id="{20EC5BCF-7A67-48A5-81C9-3ECE251EA8EC}"/>
              </a:ext>
            </a:extLst>
          </p:cNvPr>
          <p:cNvSpPr>
            <a:spLocks xmlns:a="http://schemas.openxmlformats.org/drawingml/2006/main" noGrp="1"/>
          </p:cNvSpPr>
          <p:nvPr/>
        </p:nvSpPr>
        <p:spPr>
          <a:xfrm xmlns:a="http://schemas.openxmlformats.org/drawingml/2006/main">
            <a:off x="7429500" y="3924300"/>
            <a:ext cx="4124325" cy="14288"/>
          </a:xfrm>
          <a:prstGeom xmlns:a="http://schemas.openxmlformats.org/drawingml/2006/main" prst="rect">
            <a:avLst/>
          </a:prstGeom>
          <a:solidFill xmlns:a="http://schemas.openxmlformats.org/drawingml/2006/main">
            <a:srgbClr val="D6D8D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84DD131-01C7-4EF8-B053-93AE31762F2C}"/>
              </a:ext>
            </a:extLst>
          </p:cNvPr>
          <p:cNvSpPr>
            <a:spLocks xmlns:a="http://schemas.openxmlformats.org/drawingml/2006/main" noGrp="1"/>
          </p:cNvSpPr>
          <p:nvPr/>
        </p:nvSpPr>
        <p:spPr>
          <a:xfrm xmlns:a="http://schemas.openxmlformats.org/drawingml/2006/main">
            <a:off x="7429500" y="417195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Musikabo</a:t>
            </a:r>
          </a:p>
        </p:txBody>
      </p:sp>
      <p:sp>
        <p:nvSpPr>
          <p:cNvPr id="14" name="">
            <a:extLst xmlns:a="http://schemas.openxmlformats.org/drawingml/2006/main">
              <a:ext uri="{FF2B5EF4-FFF2-40B4-BE49-F238E27FC236}">
                <a16:creationId xmlns:a16="http://schemas.microsoft.com/office/drawing/2014/main" id="{CC263790-A3F9-45C1-AA32-AA555B65DBDC}"/>
              </a:ext>
            </a:extLst>
          </p:cNvPr>
          <p:cNvSpPr>
            <a:spLocks xmlns:a="http://schemas.openxmlformats.org/drawingml/2006/main" noGrp="1"/>
          </p:cNvSpPr>
          <p:nvPr/>
        </p:nvSpPr>
        <p:spPr>
          <a:xfrm xmlns:a="http://schemas.openxmlformats.org/drawingml/2006/main">
            <a:off x="9667875" y="4171950"/>
            <a:ext cx="1885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025" b="0">
                <a:solidFill>
                  <a:srgbClr val="15171A"/>
                </a:solidFill>
                <a:latin typeface="Inter"/>
                <a:ea typeface="Inter"/>
                <a:cs typeface="Inter"/>
              </a:defRPr>
            </a:pPr>
            <a:r>
              <a:rPr sz="2025" b="0">
                <a:solidFill>
                  <a:srgbClr val="15171A"/>
                </a:solidFill>
                <a:latin typeface="Inter"/>
                <a:ea typeface="Inter"/>
                <a:cs typeface="Inter"/>
              </a:rPr>
              <a:t>CHF 13.95</a:t>
            </a:r>
          </a:p>
        </p:txBody>
      </p:sp>
      <p:sp>
        <p:nvSpPr>
          <p:cNvPr id="15" name="">
            <a:extLst xmlns:a="http://schemas.openxmlformats.org/drawingml/2006/main">
              <a:ext uri="{FF2B5EF4-FFF2-40B4-BE49-F238E27FC236}">
                <a16:creationId xmlns:a16="http://schemas.microsoft.com/office/drawing/2014/main" id="{218E6417-7731-4BBC-B21C-8531163718F1}"/>
              </a:ext>
            </a:extLst>
          </p:cNvPr>
          <p:cNvSpPr>
            <a:spLocks xmlns:a="http://schemas.openxmlformats.org/drawingml/2006/main" noGrp="1"/>
          </p:cNvSpPr>
          <p:nvPr/>
        </p:nvSpPr>
        <p:spPr>
          <a:xfrm xmlns:a="http://schemas.openxmlformats.org/drawingml/2006/main">
            <a:off x="7429500" y="4724400"/>
            <a:ext cx="4124325" cy="14288"/>
          </a:xfrm>
          <a:prstGeom xmlns:a="http://schemas.openxmlformats.org/drawingml/2006/main" prst="rect">
            <a:avLst/>
          </a:prstGeom>
          <a:solidFill xmlns:a="http://schemas.openxmlformats.org/drawingml/2006/main">
            <a:srgbClr val="D6D8D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6AAA21B-AA6D-43E4-8E09-01924FC3ACB4}"/>
              </a:ext>
            </a:extLst>
          </p:cNvPr>
          <p:cNvSpPr>
            <a:spLocks xmlns:a="http://schemas.openxmlformats.org/drawingml/2006/main" noGrp="1"/>
          </p:cNvSpPr>
          <p:nvPr/>
        </p:nvSpPr>
        <p:spPr>
          <a:xfrm xmlns:a="http://schemas.openxmlformats.org/drawingml/2006/main">
            <a:off x="7429500" y="5200650"/>
            <a:ext cx="2219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F5A45"/>
                </a:solidFill>
                <a:latin typeface="Inter"/>
                <a:ea typeface="Inter"/>
                <a:cs typeface="Inter"/>
              </a:defRPr>
            </a:pPr>
            <a:r>
              <a:rPr sz="2025" b="1">
                <a:solidFill>
                  <a:srgbClr val="1F5A45"/>
                </a:solidFill>
                <a:latin typeface="Inter"/>
                <a:ea typeface="Inter"/>
                <a:cs typeface="Inter"/>
              </a:rPr>
              <a:t>Zusammen</a:t>
            </a:r>
          </a:p>
        </p:txBody>
      </p:sp>
      <p:sp>
        <p:nvSpPr>
          <p:cNvPr id="17" name="">
            <a:extLst xmlns:a="http://schemas.openxmlformats.org/drawingml/2006/main">
              <a:ext uri="{FF2B5EF4-FFF2-40B4-BE49-F238E27FC236}">
                <a16:creationId xmlns:a16="http://schemas.microsoft.com/office/drawing/2014/main" id="{C8F36159-58AD-4338-BC57-6A994E9A4ADF}"/>
              </a:ext>
            </a:extLst>
          </p:cNvPr>
          <p:cNvSpPr>
            <a:spLocks xmlns:a="http://schemas.openxmlformats.org/drawingml/2006/main" noGrp="1"/>
          </p:cNvSpPr>
          <p:nvPr/>
        </p:nvSpPr>
        <p:spPr>
          <a:xfrm xmlns:a="http://schemas.openxmlformats.org/drawingml/2006/main">
            <a:off x="9620250" y="5114925"/>
            <a:ext cx="19335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775" b="0">
                <a:solidFill>
                  <a:srgbClr val="1F5A45"/>
                </a:solidFill>
                <a:latin typeface="Newsreader"/>
                <a:ea typeface="Newsreader"/>
                <a:cs typeface="Newsreader"/>
              </a:defRPr>
            </a:pPr>
            <a:r>
              <a:rPr sz="2775" b="0">
                <a:solidFill>
                  <a:srgbClr val="1F5A45"/>
                </a:solidFill>
                <a:latin typeface="Newsreader"/>
                <a:ea typeface="Newsreader"/>
                <a:cs typeface="Newsreader"/>
              </a:rPr>
              <a:t>CHF 31.25</a:t>
            </a:r>
          </a:p>
        </p:txBody>
      </p:sp>
    </p:spTree>
    <p:extLst>
      <p:ext uri="{BB962C8B-B14F-4D97-AF65-F5344CB8AC3E}">
        <p14:creationId xmlns:p14="http://schemas.microsoft.com/office/powerpoint/2010/main" val="596746945"/>
      </p:ext>
    </p:extLst>
  </p:cSld>
</p:sld>
</file>

<file path=ppt/slides/slide3.xml><?xml version="1.0" encoding="utf-8"?>
<p:sld xmlns:p="http://schemas.openxmlformats.org/presentationml/2006/main">
  <p:cSld>
    <p:bg>
      <p:bgPr>
        <a:solidFill xmlns:a="http://schemas.openxmlformats.org/drawingml/2006/main">
          <a:srgbClr val="1F5A4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8318F3-B2DA-4292-A8FC-CC8ACCFBC529}"/>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DCEBE2"/>
                </a:solidFill>
                <a:latin typeface="Inter"/>
                <a:ea typeface="Inter"/>
                <a:cs typeface="Inter"/>
              </a:defRPr>
            </a:pPr>
            <a:r>
              <a:rPr sz="1275" b="0">
                <a:solidFill>
                  <a:srgbClr val="DCEBE2"/>
                </a:solidFill>
                <a:latin typeface="Inter"/>
                <a:ea typeface="Inter"/>
                <a:cs typeface="Inter"/>
              </a:rPr>
              <a:t>3</a:t>
            </a:r>
          </a:p>
        </p:txBody>
      </p:sp>
      <p:sp>
        <p:nvSpPr>
          <p:cNvPr id="2" name="">
            <a:extLst xmlns:a="http://schemas.openxmlformats.org/drawingml/2006/main">
              <a:ext uri="{FF2B5EF4-FFF2-40B4-BE49-F238E27FC236}">
                <a16:creationId xmlns:a16="http://schemas.microsoft.com/office/drawing/2014/main" id="{5E0DC381-CD30-448A-87C7-52B841FF608E}"/>
              </a:ext>
            </a:extLst>
          </p:cNvPr>
          <p:cNvSpPr>
            <a:spLocks xmlns:a="http://schemas.openxmlformats.org/drawingml/2006/main" noGrp="1"/>
          </p:cNvSpPr>
          <p:nvPr/>
        </p:nvSpPr>
        <p:spPr>
          <a:xfrm xmlns:a="http://schemas.openxmlformats.org/drawingml/2006/main">
            <a:off x="609600" y="1295400"/>
            <a:ext cx="80010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200" b="0">
                <a:solidFill>
                  <a:srgbClr val="F6F5F1"/>
                </a:solidFill>
                <a:latin typeface="Newsreader"/>
                <a:ea typeface="Newsreader"/>
                <a:cs typeface="Newsreader"/>
              </a:defRPr>
            </a:pPr>
            <a:r>
              <a:rPr sz="10200" b="0">
                <a:solidFill>
                  <a:srgbClr val="F6F5F1"/>
                </a:solidFill>
                <a:latin typeface="Newsreader"/>
                <a:ea typeface="Newsreader"/>
                <a:cs typeface="Newsreader"/>
              </a:rPr>
              <a:t>spendly.</a:t>
            </a:r>
          </a:p>
        </p:txBody>
      </p:sp>
      <p:sp>
        <p:nvSpPr>
          <p:cNvPr id="3" name="">
            <a:extLst xmlns:a="http://schemas.openxmlformats.org/drawingml/2006/main">
              <a:ext uri="{FF2B5EF4-FFF2-40B4-BE49-F238E27FC236}">
                <a16:creationId xmlns:a16="http://schemas.microsoft.com/office/drawing/2014/main" id="{DD141019-32B9-43E8-AD8F-CA8F87DE369D}"/>
              </a:ext>
            </a:extLst>
          </p:cNvPr>
          <p:cNvSpPr>
            <a:spLocks xmlns:a="http://schemas.openxmlformats.org/drawingml/2006/main" noGrp="1"/>
          </p:cNvSpPr>
          <p:nvPr/>
        </p:nvSpPr>
        <p:spPr>
          <a:xfrm xmlns:a="http://schemas.openxmlformats.org/drawingml/2006/main">
            <a:off x="666750" y="3133725"/>
            <a:ext cx="7572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F6F5F1"/>
                </a:solidFill>
                <a:latin typeface="Inter"/>
                <a:ea typeface="Inter"/>
                <a:cs typeface="Inter"/>
              </a:defRPr>
            </a:pPr>
            <a:r>
              <a:rPr sz="3225" b="0">
                <a:solidFill>
                  <a:srgbClr val="F6F5F1"/>
                </a:solidFill>
                <a:latin typeface="Inter"/>
                <a:ea typeface="Inter"/>
                <a:cs typeface="Inter"/>
              </a:rPr>
              <a:t>Dein Budget für heute.</a:t>
            </a:r>
          </a:p>
          <a:p xmlns:a="http://schemas.openxmlformats.org/drawingml/2006/main">
            <a:pPr algn="l">
              <a:defRPr sz="3225" b="0">
                <a:solidFill>
                  <a:srgbClr val="F6F5F1"/>
                </a:solidFill>
                <a:latin typeface="Inter"/>
                <a:ea typeface="Inter"/>
                <a:cs typeface="Inter"/>
              </a:defRPr>
            </a:pPr>
            <a:r>
              <a:rPr sz="3225" b="0">
                <a:solidFill>
                  <a:srgbClr val="F6F5F1"/>
                </a:solidFill>
                <a:latin typeface="Inter"/>
                <a:ea typeface="Inter"/>
                <a:cs typeface="Inter"/>
              </a:rPr>
              <a:t>Direkt im Blick.</a:t>
            </a:r>
          </a:p>
        </p:txBody>
      </p:sp>
      <p:sp>
        <p:nvSpPr>
          <p:cNvPr id="4" name="">
            <a:extLst xmlns:a="http://schemas.openxmlformats.org/drawingml/2006/main">
              <a:ext uri="{FF2B5EF4-FFF2-40B4-BE49-F238E27FC236}">
                <a16:creationId xmlns:a16="http://schemas.microsoft.com/office/drawing/2014/main" id="{12121166-973F-4EBD-84AC-19DEE884CBE4}"/>
              </a:ext>
            </a:extLst>
          </p:cNvPr>
          <p:cNvSpPr>
            <a:spLocks xmlns:a="http://schemas.openxmlformats.org/drawingml/2006/main" noGrp="1"/>
          </p:cNvSpPr>
          <p:nvPr/>
        </p:nvSpPr>
        <p:spPr>
          <a:xfrm xmlns:a="http://schemas.openxmlformats.org/drawingml/2006/main">
            <a:off x="685800" y="4895850"/>
            <a:ext cx="72580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DCEBE2"/>
                </a:solidFill>
                <a:latin typeface="Inter"/>
                <a:ea typeface="Inter"/>
                <a:cs typeface="Inter"/>
              </a:defRPr>
            </a:pPr>
            <a:r>
              <a:rPr sz="2025" b="0">
                <a:solidFill>
                  <a:srgbClr val="DCEBE2"/>
                </a:solidFill>
                <a:latin typeface="Inter"/>
                <a:ea typeface="Inter"/>
                <a:cs typeface="Inter"/>
              </a:rPr>
              <a:t>Ausgaben erfassen und korrigieren.</a:t>
            </a:r>
          </a:p>
          <a:p xmlns:a="http://schemas.openxmlformats.org/drawingml/2006/main">
            <a:pPr algn="l">
              <a:defRPr sz="2025" b="0">
                <a:solidFill>
                  <a:srgbClr val="DCEBE2"/>
                </a:solidFill>
                <a:latin typeface="Inter"/>
                <a:ea typeface="Inter"/>
                <a:cs typeface="Inter"/>
              </a:defRPr>
            </a:pPr>
            <a:r>
              <a:rPr sz="2025" b="0">
                <a:solidFill>
                  <a:srgbClr val="DCEBE2"/>
                </a:solidFill>
                <a:latin typeface="Inter"/>
                <a:ea typeface="Inter"/>
                <a:cs typeface="Inter"/>
              </a:rPr>
              <a:t>Das restliche Monatsbudget sehen.</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18d75720fe94779"/>
          <a:stretch xmlns:a="http://schemas.openxmlformats.org/drawingml/2006/main"/>
        </p:blipFill>
        <p:spPr>
          <a:xfrm xmlns:a="http://schemas.openxmlformats.org/drawingml/2006/main">
            <a:off x="8877300" y="753660"/>
            <a:ext cx="2447925" cy="5322106"/>
          </a:xfrm>
          <a:prstGeom xmlns:a="http://schemas.openxmlformats.org/drawingml/2006/main" prst="rect">
            <a:avLst/>
          </a:prstGeom>
        </p:spPr>
      </p:pic>
    </p:spTree>
    <p:extLst>
      <p:ext uri="{BB962C8B-B14F-4D97-AF65-F5344CB8AC3E}">
        <p14:creationId xmlns:p14="http://schemas.microsoft.com/office/powerpoint/2010/main" val="742497724"/>
      </p:ext>
    </p:extLst>
  </p:cSld>
</p:sld>
</file>

<file path=ppt/slides/slide4.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86CFC74-AD06-45C8-8CC4-7B3057A1B7EB}"/>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4</a:t>
            </a:r>
          </a:p>
        </p:txBody>
      </p:sp>
      <p:sp>
        <p:nvSpPr>
          <p:cNvPr id="2" name="">
            <a:extLst xmlns:a="http://schemas.openxmlformats.org/drawingml/2006/main">
              <a:ext uri="{FF2B5EF4-FFF2-40B4-BE49-F238E27FC236}">
                <a16:creationId xmlns:a16="http://schemas.microsoft.com/office/drawing/2014/main" id="{FFB28E15-0CC1-4210-8EEF-1D779A586259}"/>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Spendly im Alltag</a:t>
            </a:r>
          </a:p>
        </p:txBody>
      </p:sp>
      <p:sp>
        <p:nvSpPr>
          <p:cNvPr id="3" name="">
            <a:extLst xmlns:a="http://schemas.openxmlformats.org/drawingml/2006/main">
              <a:ext uri="{FF2B5EF4-FFF2-40B4-BE49-F238E27FC236}">
                <a16:creationId xmlns:a16="http://schemas.microsoft.com/office/drawing/2014/main" id="{C10D774C-ED74-460F-A803-FFF49F245C33}"/>
              </a:ext>
            </a:extLst>
          </p:cNvPr>
          <p:cNvSpPr>
            <a:spLocks xmlns:a="http://schemas.openxmlformats.org/drawingml/2006/main" noGrp="1"/>
          </p:cNvSpPr>
          <p:nvPr/>
        </p:nvSpPr>
        <p:spPr>
          <a:xfrm xmlns:a="http://schemas.openxmlformats.org/drawingml/2006/main">
            <a:off x="638175" y="18478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F5A45"/>
                </a:solidFill>
                <a:latin typeface="Newsreader"/>
                <a:ea typeface="Newsreader"/>
                <a:cs typeface="Newsreader"/>
              </a:defRPr>
            </a:pPr>
            <a:r>
              <a:rPr sz="3375" b="0">
                <a:solidFill>
                  <a:srgbClr val="1F5A45"/>
                </a:solidFill>
                <a:latin typeface="Newsreader"/>
                <a:ea typeface="Newsreader"/>
                <a:cs typeface="Newsreader"/>
              </a:rPr>
              <a:t>01</a:t>
            </a:r>
          </a:p>
        </p:txBody>
      </p:sp>
      <p:sp>
        <p:nvSpPr>
          <p:cNvPr id="4" name="">
            <a:extLst xmlns:a="http://schemas.openxmlformats.org/drawingml/2006/main">
              <a:ext uri="{FF2B5EF4-FFF2-40B4-BE49-F238E27FC236}">
                <a16:creationId xmlns:a16="http://schemas.microsoft.com/office/drawing/2014/main" id="{8C5FAB98-6F66-4C8D-8FDF-2101ED6D3B68}"/>
              </a:ext>
            </a:extLst>
          </p:cNvPr>
          <p:cNvSpPr>
            <a:spLocks xmlns:a="http://schemas.openxmlformats.org/drawingml/2006/main" noGrp="1"/>
          </p:cNvSpPr>
          <p:nvPr/>
        </p:nvSpPr>
        <p:spPr>
          <a:xfrm xmlns:a="http://schemas.openxmlformats.org/drawingml/2006/main">
            <a:off x="1609725" y="1847850"/>
            <a:ext cx="6191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Eintragen</a:t>
            </a:r>
          </a:p>
        </p:txBody>
      </p:sp>
      <p:sp>
        <p:nvSpPr>
          <p:cNvPr id="5" name="">
            <a:extLst xmlns:a="http://schemas.openxmlformats.org/drawingml/2006/main">
              <a:ext uri="{FF2B5EF4-FFF2-40B4-BE49-F238E27FC236}">
                <a16:creationId xmlns:a16="http://schemas.microsoft.com/office/drawing/2014/main" id="{16DA37FE-50AC-47AA-B9FA-8BC94E6C6B11}"/>
              </a:ext>
            </a:extLst>
          </p:cNvPr>
          <p:cNvSpPr>
            <a:spLocks xmlns:a="http://schemas.openxmlformats.org/drawingml/2006/main" noGrp="1"/>
          </p:cNvSpPr>
          <p:nvPr/>
        </p:nvSpPr>
        <p:spPr>
          <a:xfrm xmlns:a="http://schemas.openxmlformats.org/drawingml/2006/main">
            <a:off x="1628775" y="2447925"/>
            <a:ext cx="6238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5171A"/>
                </a:solidFill>
                <a:latin typeface="Inter"/>
                <a:ea typeface="Inter"/>
                <a:cs typeface="Inter"/>
              </a:defRPr>
            </a:pPr>
            <a:r>
              <a:rPr sz="1875" b="0">
                <a:solidFill>
                  <a:srgbClr val="15171A"/>
                </a:solidFill>
                <a:latin typeface="Inter"/>
                <a:ea typeface="Inter"/>
                <a:cs typeface="Inter"/>
              </a:rPr>
              <a:t>CHF 14.80 für ein Mittagessen</a:t>
            </a:r>
          </a:p>
        </p:txBody>
      </p:sp>
      <p:sp>
        <p:nvSpPr>
          <p:cNvPr id="6" name="">
            <a:extLst xmlns:a="http://schemas.openxmlformats.org/drawingml/2006/main">
              <a:ext uri="{FF2B5EF4-FFF2-40B4-BE49-F238E27FC236}">
                <a16:creationId xmlns:a16="http://schemas.microsoft.com/office/drawing/2014/main" id="{FF5C0B8A-ADE5-49BF-97D5-6A1AF8F0928C}"/>
              </a:ext>
            </a:extLst>
          </p:cNvPr>
          <p:cNvSpPr>
            <a:spLocks xmlns:a="http://schemas.openxmlformats.org/drawingml/2006/main" noGrp="1"/>
          </p:cNvSpPr>
          <p:nvPr/>
        </p:nvSpPr>
        <p:spPr>
          <a:xfrm xmlns:a="http://schemas.openxmlformats.org/drawingml/2006/main">
            <a:off x="638175" y="3228975"/>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F5A45"/>
                </a:solidFill>
                <a:latin typeface="Newsreader"/>
                <a:ea typeface="Newsreader"/>
                <a:cs typeface="Newsreader"/>
              </a:defRPr>
            </a:pPr>
            <a:r>
              <a:rPr sz="3375" b="0">
                <a:solidFill>
                  <a:srgbClr val="1F5A45"/>
                </a:solidFill>
                <a:latin typeface="Newsreader"/>
                <a:ea typeface="Newsreader"/>
                <a:cs typeface="Newsreader"/>
              </a:rPr>
              <a:t>02</a:t>
            </a:r>
          </a:p>
        </p:txBody>
      </p:sp>
      <p:sp>
        <p:nvSpPr>
          <p:cNvPr id="7" name="">
            <a:extLst xmlns:a="http://schemas.openxmlformats.org/drawingml/2006/main">
              <a:ext uri="{FF2B5EF4-FFF2-40B4-BE49-F238E27FC236}">
                <a16:creationId xmlns:a16="http://schemas.microsoft.com/office/drawing/2014/main" id="{75E524BD-60C0-4F27-AEE0-F883BC60A1DA}"/>
              </a:ext>
            </a:extLst>
          </p:cNvPr>
          <p:cNvSpPr>
            <a:spLocks xmlns:a="http://schemas.openxmlformats.org/drawingml/2006/main" noGrp="1"/>
          </p:cNvSpPr>
          <p:nvPr/>
        </p:nvSpPr>
        <p:spPr>
          <a:xfrm xmlns:a="http://schemas.openxmlformats.org/drawingml/2006/main">
            <a:off x="1609725" y="3228975"/>
            <a:ext cx="6191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Entscheiden</a:t>
            </a:r>
          </a:p>
        </p:txBody>
      </p:sp>
      <p:sp>
        <p:nvSpPr>
          <p:cNvPr id="8" name="">
            <a:extLst xmlns:a="http://schemas.openxmlformats.org/drawingml/2006/main">
              <a:ext uri="{FF2B5EF4-FFF2-40B4-BE49-F238E27FC236}">
                <a16:creationId xmlns:a16="http://schemas.microsoft.com/office/drawing/2014/main" id="{A598BD24-89D5-477D-A39A-BBEF9138498C}"/>
              </a:ext>
            </a:extLst>
          </p:cNvPr>
          <p:cNvSpPr>
            <a:spLocks xmlns:a="http://schemas.openxmlformats.org/drawingml/2006/main" noGrp="1"/>
          </p:cNvSpPr>
          <p:nvPr/>
        </p:nvSpPr>
        <p:spPr>
          <a:xfrm xmlns:a="http://schemas.openxmlformats.org/drawingml/2006/main">
            <a:off x="1628775" y="3829050"/>
            <a:ext cx="6238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5171A"/>
                </a:solidFill>
                <a:latin typeface="Inter"/>
                <a:ea typeface="Inter"/>
                <a:cs typeface="Inter"/>
              </a:defRPr>
            </a:pPr>
            <a:r>
              <a:rPr sz="1875" b="0">
                <a:solidFill>
                  <a:srgbClr val="15171A"/>
                </a:solidFill>
                <a:latin typeface="Inter"/>
                <a:ea typeface="Inter"/>
                <a:cs typeface="Inter"/>
              </a:rPr>
              <a:t>Das verfügbare Budget aktualisiert sich</a:t>
            </a:r>
          </a:p>
        </p:txBody>
      </p:sp>
      <p:sp>
        <p:nvSpPr>
          <p:cNvPr id="9" name="">
            <a:extLst xmlns:a="http://schemas.openxmlformats.org/drawingml/2006/main">
              <a:ext uri="{FF2B5EF4-FFF2-40B4-BE49-F238E27FC236}">
                <a16:creationId xmlns:a16="http://schemas.microsoft.com/office/drawing/2014/main" id="{2FA564D6-5725-4EFD-82FC-4A7ABECEC1B2}"/>
              </a:ext>
            </a:extLst>
          </p:cNvPr>
          <p:cNvSpPr>
            <a:spLocks xmlns:a="http://schemas.openxmlformats.org/drawingml/2006/main" noGrp="1"/>
          </p:cNvSpPr>
          <p:nvPr/>
        </p:nvSpPr>
        <p:spPr>
          <a:xfrm xmlns:a="http://schemas.openxmlformats.org/drawingml/2006/main">
            <a:off x="638175" y="46101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F5A45"/>
                </a:solidFill>
                <a:latin typeface="Newsreader"/>
                <a:ea typeface="Newsreader"/>
                <a:cs typeface="Newsreader"/>
              </a:defRPr>
            </a:pPr>
            <a:r>
              <a:rPr sz="3375" b="0">
                <a:solidFill>
                  <a:srgbClr val="1F5A45"/>
                </a:solidFill>
                <a:latin typeface="Newsreader"/>
                <a:ea typeface="Newsreader"/>
                <a:cs typeface="Newsreader"/>
              </a:rPr>
              <a:t>03</a:t>
            </a:r>
          </a:p>
        </p:txBody>
      </p:sp>
      <p:sp>
        <p:nvSpPr>
          <p:cNvPr id="10" name="">
            <a:extLst xmlns:a="http://schemas.openxmlformats.org/drawingml/2006/main">
              <a:ext uri="{FF2B5EF4-FFF2-40B4-BE49-F238E27FC236}">
                <a16:creationId xmlns:a16="http://schemas.microsoft.com/office/drawing/2014/main" id="{65665EEB-CD49-4405-9331-9CBF852B70B8}"/>
              </a:ext>
            </a:extLst>
          </p:cNvPr>
          <p:cNvSpPr>
            <a:spLocks xmlns:a="http://schemas.openxmlformats.org/drawingml/2006/main" noGrp="1"/>
          </p:cNvSpPr>
          <p:nvPr/>
        </p:nvSpPr>
        <p:spPr>
          <a:xfrm xmlns:a="http://schemas.openxmlformats.org/drawingml/2006/main">
            <a:off x="1609725" y="4610100"/>
            <a:ext cx="6191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Korrigieren</a:t>
            </a:r>
          </a:p>
        </p:txBody>
      </p:sp>
      <p:sp>
        <p:nvSpPr>
          <p:cNvPr id="11" name="">
            <a:extLst xmlns:a="http://schemas.openxmlformats.org/drawingml/2006/main">
              <a:ext uri="{FF2B5EF4-FFF2-40B4-BE49-F238E27FC236}">
                <a16:creationId xmlns:a16="http://schemas.microsoft.com/office/drawing/2014/main" id="{356271E0-78E1-44A6-A4BD-655AD4784374}"/>
              </a:ext>
            </a:extLst>
          </p:cNvPr>
          <p:cNvSpPr>
            <a:spLocks xmlns:a="http://schemas.openxmlformats.org/drawingml/2006/main" noGrp="1"/>
          </p:cNvSpPr>
          <p:nvPr/>
        </p:nvSpPr>
        <p:spPr>
          <a:xfrm xmlns:a="http://schemas.openxmlformats.org/drawingml/2006/main">
            <a:off x="1628775" y="5210175"/>
            <a:ext cx="6238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5171A"/>
                </a:solidFill>
                <a:latin typeface="Inter"/>
                <a:ea typeface="Inter"/>
                <a:cs typeface="Inter"/>
              </a:defRPr>
            </a:pPr>
            <a:r>
              <a:rPr sz="1875" b="0">
                <a:solidFill>
                  <a:srgbClr val="15171A"/>
                </a:solidFill>
                <a:latin typeface="Inter"/>
                <a:ea typeface="Inter"/>
                <a:cs typeface="Inter"/>
              </a:rPr>
              <a:t>Ändern und eine Löschung zurückholen</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852119e8f974801"/>
          <a:stretch xmlns:a="http://schemas.openxmlformats.org/drawingml/2006/main"/>
        </p:blipFill>
        <p:spPr>
          <a:xfrm xmlns:a="http://schemas.openxmlformats.org/drawingml/2006/main">
            <a:off x="8726535" y="1409700"/>
            <a:ext cx="2225581" cy="4838700"/>
          </a:xfrm>
          <a:prstGeom xmlns:a="http://schemas.openxmlformats.org/drawingml/2006/main" prst="rect">
            <a:avLst/>
          </a:prstGeom>
        </p:spPr>
      </p:pic>
    </p:spTree>
    <p:extLst>
      <p:ext uri="{BB962C8B-B14F-4D97-AF65-F5344CB8AC3E}">
        <p14:creationId xmlns:p14="http://schemas.microsoft.com/office/powerpoint/2010/main" val="107173139"/>
      </p:ext>
    </p:extLst>
  </p:cSld>
</p:sld>
</file>

<file path=ppt/slides/slide5.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73C7CB-28A9-4B06-84DD-EF528635B5DC}"/>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5</a:t>
            </a:r>
          </a:p>
        </p:txBody>
      </p:sp>
      <p:sp>
        <p:nvSpPr>
          <p:cNvPr id="2" name="">
            <a:extLst xmlns:a="http://schemas.openxmlformats.org/drawingml/2006/main">
              <a:ext uri="{FF2B5EF4-FFF2-40B4-BE49-F238E27FC236}">
                <a16:creationId xmlns:a16="http://schemas.microsoft.com/office/drawing/2014/main" id="{87E68AD8-BD60-45CC-A263-048DCF748BC3}"/>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Deine Ausgaben bleiben bei dir</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d329a19980543ea"/>
          <a:stretch xmlns:a="http://schemas.openxmlformats.org/drawingml/2006/main"/>
        </p:blipFill>
        <p:spPr>
          <a:xfrm xmlns:a="http://schemas.openxmlformats.org/drawingml/2006/main">
            <a:off x="882120" y="1581150"/>
            <a:ext cx="2102911" cy="4572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77F73EB-064E-4052-9BDF-602413D7278C}"/>
              </a:ext>
            </a:extLst>
          </p:cNvPr>
          <p:cNvSpPr>
            <a:spLocks xmlns:a="http://schemas.openxmlformats.org/drawingml/2006/main" noGrp="1"/>
          </p:cNvSpPr>
          <p:nvPr/>
        </p:nvSpPr>
        <p:spPr>
          <a:xfrm xmlns:a="http://schemas.openxmlformats.org/drawingml/2006/main">
            <a:off x="4048125" y="1657350"/>
            <a:ext cx="714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F5A45"/>
                </a:solidFill>
                <a:latin typeface="Newsreader"/>
                <a:ea typeface="Newsreader"/>
                <a:cs typeface="Newsreader"/>
              </a:defRPr>
            </a:pPr>
            <a:r>
              <a:rPr sz="3000" b="0">
                <a:solidFill>
                  <a:srgbClr val="1F5A45"/>
                </a:solidFill>
                <a:latin typeface="Newsreader"/>
                <a:ea typeface="Newsreader"/>
                <a:cs typeface="Newsreader"/>
              </a:rPr>
              <a:t>Lokal gespeichert</a:t>
            </a:r>
          </a:p>
        </p:txBody>
      </p:sp>
      <p:sp>
        <p:nvSpPr>
          <p:cNvPr id="5" name="">
            <a:extLst xmlns:a="http://schemas.openxmlformats.org/drawingml/2006/main">
              <a:ext uri="{FF2B5EF4-FFF2-40B4-BE49-F238E27FC236}">
                <a16:creationId xmlns:a16="http://schemas.microsoft.com/office/drawing/2014/main" id="{7F10ED19-21D6-4CDF-8E4B-FBE04E08CFDF}"/>
              </a:ext>
            </a:extLst>
          </p:cNvPr>
          <p:cNvSpPr>
            <a:spLocks xmlns:a="http://schemas.openxmlformats.org/drawingml/2006/main" noGrp="1"/>
          </p:cNvSpPr>
          <p:nvPr/>
        </p:nvSpPr>
        <p:spPr>
          <a:xfrm xmlns:a="http://schemas.openxmlformats.org/drawingml/2006/main">
            <a:off x="4095750" y="2371725"/>
            <a:ext cx="7191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Kein Benutzerkonto.</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Kein Server für deine Ausgaben.</a:t>
            </a:r>
          </a:p>
        </p:txBody>
      </p:sp>
      <p:sp>
        <p:nvSpPr>
          <p:cNvPr id="6" name="">
            <a:extLst xmlns:a="http://schemas.openxmlformats.org/drawingml/2006/main">
              <a:ext uri="{FF2B5EF4-FFF2-40B4-BE49-F238E27FC236}">
                <a16:creationId xmlns:a16="http://schemas.microsoft.com/office/drawing/2014/main" id="{42441686-4C47-4854-AAAA-82C9CBCAD9A8}"/>
              </a:ext>
            </a:extLst>
          </p:cNvPr>
          <p:cNvSpPr>
            <a:spLocks xmlns:a="http://schemas.openxmlformats.org/drawingml/2006/main" noGrp="1"/>
          </p:cNvSpPr>
          <p:nvPr/>
        </p:nvSpPr>
        <p:spPr>
          <a:xfrm xmlns:a="http://schemas.openxmlformats.org/drawingml/2006/main">
            <a:off x="4048125" y="3819525"/>
            <a:ext cx="7191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F5A45"/>
                </a:solidFill>
                <a:latin typeface="Newsreader"/>
                <a:ea typeface="Newsreader"/>
                <a:cs typeface="Newsreader"/>
              </a:defRPr>
            </a:pPr>
            <a:r>
              <a:rPr sz="2775" b="0">
                <a:solidFill>
                  <a:srgbClr val="1F5A45"/>
                </a:solidFill>
                <a:latin typeface="Newsreader"/>
                <a:ea typeface="Newsreader"/>
                <a:cs typeface="Newsreader"/>
              </a:rPr>
              <a:t>Das Gerät prüft den Zugang</a:t>
            </a:r>
          </a:p>
        </p:txBody>
      </p:sp>
      <p:sp>
        <p:nvSpPr>
          <p:cNvPr id="7" name="">
            <a:extLst xmlns:a="http://schemas.openxmlformats.org/drawingml/2006/main">
              <a:ext uri="{FF2B5EF4-FFF2-40B4-BE49-F238E27FC236}">
                <a16:creationId xmlns:a16="http://schemas.microsoft.com/office/drawing/2014/main" id="{1331FE2D-6DD1-489D-BE5C-016991701A68}"/>
              </a:ext>
            </a:extLst>
          </p:cNvPr>
          <p:cNvSpPr>
            <a:spLocks xmlns:a="http://schemas.openxmlformats.org/drawingml/2006/main" noGrp="1"/>
          </p:cNvSpPr>
          <p:nvPr/>
        </p:nvSpPr>
        <p:spPr>
          <a:xfrm xmlns:a="http://schemas.openxmlformats.org/drawingml/2006/main">
            <a:off x="4095750" y="4514850"/>
            <a:ext cx="7191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Face ID oder Fingerabdruck.</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Spendly erhält nur das Ergebnis.</a:t>
            </a:r>
          </a:p>
        </p:txBody>
      </p:sp>
      <p:sp>
        <p:nvSpPr>
          <p:cNvPr id="8" name="">
            <a:extLst xmlns:a="http://schemas.openxmlformats.org/drawingml/2006/main">
              <a:ext uri="{FF2B5EF4-FFF2-40B4-BE49-F238E27FC236}">
                <a16:creationId xmlns:a16="http://schemas.microsoft.com/office/drawing/2014/main" id="{CBBB48BB-002A-4091-8F30-7A22FDE30AFD}"/>
              </a:ext>
            </a:extLst>
          </p:cNvPr>
          <p:cNvSpPr>
            <a:spLocks xmlns:a="http://schemas.openxmlformats.org/drawingml/2006/main" noGrp="1"/>
          </p:cNvSpPr>
          <p:nvPr/>
        </p:nvSpPr>
        <p:spPr>
          <a:xfrm xmlns:a="http://schemas.openxmlformats.org/drawingml/2006/main">
            <a:off x="4095750" y="5772150"/>
            <a:ext cx="719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Alternativ: eigener App-Code. Echter Face-ID-Scan offen.</a:t>
            </a:r>
          </a:p>
        </p:txBody>
      </p:sp>
    </p:spTree>
    <p:extLst>
      <p:ext uri="{BB962C8B-B14F-4D97-AF65-F5344CB8AC3E}">
        <p14:creationId xmlns:p14="http://schemas.microsoft.com/office/powerpoint/2010/main" val="1993725369"/>
      </p:ext>
    </p:extLst>
  </p:cSld>
</p:sld>
</file>

<file path=ppt/slides/slide6.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06B799D-A825-4717-B6A6-59326CD0AF62}"/>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6</a:t>
            </a:r>
          </a:p>
        </p:txBody>
      </p:sp>
      <p:sp>
        <p:nvSpPr>
          <p:cNvPr id="2" name="">
            <a:extLst xmlns:a="http://schemas.openxmlformats.org/drawingml/2006/main">
              <a:ext uri="{FF2B5EF4-FFF2-40B4-BE49-F238E27FC236}">
                <a16:creationId xmlns:a16="http://schemas.microsoft.com/office/drawing/2014/main" id="{8A1FBF07-C94F-40AE-8F36-87957254C0C7}"/>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Vom Entwurf zur nutzbaren App</a:t>
            </a:r>
          </a:p>
        </p:txBody>
      </p:sp>
      <p:sp>
        <p:nvSpPr>
          <p:cNvPr id="3" name="">
            <a:extLst xmlns:a="http://schemas.openxmlformats.org/drawingml/2006/main">
              <a:ext uri="{FF2B5EF4-FFF2-40B4-BE49-F238E27FC236}">
                <a16:creationId xmlns:a16="http://schemas.microsoft.com/office/drawing/2014/main" id="{B1620CFC-AA2C-49C4-A5E8-F214A01A2C71}"/>
              </a:ext>
            </a:extLst>
          </p:cNvPr>
          <p:cNvSpPr>
            <a:spLocks xmlns:a="http://schemas.openxmlformats.org/drawingml/2006/main" noGrp="1"/>
          </p:cNvSpPr>
          <p:nvPr/>
        </p:nvSpPr>
        <p:spPr>
          <a:xfrm xmlns:a="http://schemas.openxmlformats.org/drawingml/2006/main">
            <a:off x="609600" y="1733550"/>
            <a:ext cx="5048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F5A45"/>
                </a:solidFill>
                <a:latin typeface="Newsreader"/>
                <a:ea typeface="Newsreader"/>
                <a:cs typeface="Newsreader"/>
              </a:defRPr>
            </a:pPr>
            <a:r>
              <a:rPr sz="3000" b="0">
                <a:solidFill>
                  <a:srgbClr val="1F5A45"/>
                </a:solidFill>
                <a:latin typeface="Newsreader"/>
                <a:ea typeface="Newsreader"/>
                <a:cs typeface="Newsreader"/>
              </a:rPr>
              <a:t>Die Eingabe bleibt einfach</a:t>
            </a:r>
          </a:p>
        </p:txBody>
      </p:sp>
      <p:sp>
        <p:nvSpPr>
          <p:cNvPr id="4" name="">
            <a:extLst xmlns:a="http://schemas.openxmlformats.org/drawingml/2006/main">
              <a:ext uri="{FF2B5EF4-FFF2-40B4-BE49-F238E27FC236}">
                <a16:creationId xmlns:a16="http://schemas.microsoft.com/office/drawing/2014/main" id="{977F866A-1DF0-4370-99A6-F085E133A387}"/>
              </a:ext>
            </a:extLst>
          </p:cNvPr>
          <p:cNvSpPr>
            <a:spLocks xmlns:a="http://schemas.openxmlformats.org/drawingml/2006/main" noGrp="1"/>
          </p:cNvSpPr>
          <p:nvPr/>
        </p:nvSpPr>
        <p:spPr>
          <a:xfrm xmlns:a="http://schemas.openxmlformats.org/drawingml/2006/main">
            <a:off x="638175" y="3000375"/>
            <a:ext cx="48863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Betrag im Mittelpunkt</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Kategorie direkt auswählen</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Fehler am richtigen Feld</a:t>
            </a:r>
          </a:p>
        </p:txBody>
      </p:sp>
      <p:sp>
        <p:nvSpPr>
          <p:cNvPr id="5" name="">
            <a:extLst xmlns:a="http://schemas.openxmlformats.org/drawingml/2006/main">
              <a:ext uri="{FF2B5EF4-FFF2-40B4-BE49-F238E27FC236}">
                <a16:creationId xmlns:a16="http://schemas.microsoft.com/office/drawing/2014/main" id="{A0956D3D-D5BB-41B1-80B8-5E34281D0AAE}"/>
              </a:ext>
            </a:extLst>
          </p:cNvPr>
          <p:cNvSpPr>
            <a:spLocks xmlns:a="http://schemas.openxmlformats.org/drawingml/2006/main" noGrp="1"/>
          </p:cNvSpPr>
          <p:nvPr/>
        </p:nvSpPr>
        <p:spPr>
          <a:xfrm xmlns:a="http://schemas.openxmlformats.org/drawingml/2006/main">
            <a:off x="638175" y="4933950"/>
            <a:ext cx="49149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Oberfläche und Navigation</a:t>
            </a:r>
          </a:p>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Speicherung und Gerätesperre</a:t>
            </a:r>
          </a:p>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Fehlerfälle und Tests</a:t>
            </a:r>
          </a:p>
        </p:txBody>
      </p:sp>
      <p:sp>
        <p:nvSpPr>
          <p:cNvPr id="6" name="">
            <a:extLst xmlns:a="http://schemas.openxmlformats.org/drawingml/2006/main">
              <a:ext uri="{FF2B5EF4-FFF2-40B4-BE49-F238E27FC236}">
                <a16:creationId xmlns:a16="http://schemas.microsoft.com/office/drawing/2014/main" id="{592D95B3-1D23-4518-9D70-004C95878DA4}"/>
              </a:ext>
            </a:extLst>
          </p:cNvPr>
          <p:cNvSpPr>
            <a:spLocks xmlns:a="http://schemas.openxmlformats.org/drawingml/2006/main" noGrp="1"/>
          </p:cNvSpPr>
          <p:nvPr/>
        </p:nvSpPr>
        <p:spPr>
          <a:xfrm xmlns:a="http://schemas.openxmlformats.org/drawingml/2006/main">
            <a:off x="6000750" y="139065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6E6D68"/>
                </a:solidFill>
                <a:latin typeface="Inter"/>
                <a:ea typeface="Inter"/>
                <a:cs typeface="Inter"/>
              </a:defRPr>
            </a:pPr>
            <a:r>
              <a:rPr sz="1500" b="1">
                <a:solidFill>
                  <a:srgbClr val="6E6D68"/>
                </a:solidFill>
                <a:latin typeface="Inter"/>
                <a:ea typeface="Inter"/>
                <a:cs typeface="Inter"/>
              </a:rPr>
              <a:t>LB1-Mockup</a:t>
            </a:r>
          </a:p>
        </p:txBody>
      </p:sp>
      <p:sp>
        <p:nvSpPr>
          <p:cNvPr id="7" name="">
            <a:extLst xmlns:a="http://schemas.openxmlformats.org/drawingml/2006/main">
              <a:ext uri="{FF2B5EF4-FFF2-40B4-BE49-F238E27FC236}">
                <a16:creationId xmlns:a16="http://schemas.microsoft.com/office/drawing/2014/main" id="{2DADDDAC-1865-449B-B532-8A269C51F85C}"/>
              </a:ext>
            </a:extLst>
          </p:cNvPr>
          <p:cNvSpPr>
            <a:spLocks xmlns:a="http://schemas.openxmlformats.org/drawingml/2006/main" noGrp="1"/>
          </p:cNvSpPr>
          <p:nvPr/>
        </p:nvSpPr>
        <p:spPr>
          <a:xfrm xmlns:a="http://schemas.openxmlformats.org/drawingml/2006/main">
            <a:off x="8924925" y="139065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F5A45"/>
                </a:solidFill>
                <a:latin typeface="Inter"/>
                <a:ea typeface="Inter"/>
                <a:cs typeface="Inter"/>
              </a:defRPr>
            </a:pPr>
            <a:r>
              <a:rPr sz="1500" b="1">
                <a:solidFill>
                  <a:srgbClr val="1F5A45"/>
                </a:solidFill>
                <a:latin typeface="Inter"/>
                <a:ea typeface="Inter"/>
                <a:cs typeface="Inter"/>
              </a:rPr>
              <a:t>App heute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06e8e1e1c1c4200"/>
          <a:stretch xmlns:a="http://schemas.openxmlformats.org/drawingml/2006/main"/>
        </p:blipFill>
        <p:spPr>
          <a:xfrm xmlns:a="http://schemas.openxmlformats.org/drawingml/2006/main">
            <a:off x="6098460" y="1809750"/>
            <a:ext cx="2033430" cy="4400550"/>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6ac0357b1264b0b"/>
          <a:stretch xmlns:a="http://schemas.openxmlformats.org/drawingml/2006/main"/>
        </p:blipFill>
        <p:spPr>
          <a:xfrm xmlns:a="http://schemas.openxmlformats.org/drawingml/2006/main">
            <a:off x="9027324" y="1809750"/>
            <a:ext cx="2024052" cy="4400550"/>
          </a:xfrm>
          <a:prstGeom xmlns:a="http://schemas.openxmlformats.org/drawingml/2006/main" prst="rect">
            <a:avLst/>
          </a:prstGeom>
        </p:spPr>
      </p:pic>
    </p:spTree>
    <p:extLst>
      <p:ext uri="{BB962C8B-B14F-4D97-AF65-F5344CB8AC3E}">
        <p14:creationId xmlns:p14="http://schemas.microsoft.com/office/powerpoint/2010/main" val="351427784"/>
      </p:ext>
    </p:extLst>
  </p:cSld>
</p:sld>
</file>

<file path=ppt/slides/slide7.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EE7C5B4-8525-4812-AF5F-1C45AEE2FB6D}"/>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7</a:t>
            </a:r>
          </a:p>
        </p:txBody>
      </p:sp>
      <p:sp>
        <p:nvSpPr>
          <p:cNvPr id="2" name="">
            <a:extLst xmlns:a="http://schemas.openxmlformats.org/drawingml/2006/main">
              <a:ext uri="{FF2B5EF4-FFF2-40B4-BE49-F238E27FC236}">
                <a16:creationId xmlns:a16="http://schemas.microsoft.com/office/drawing/2014/main" id="{8AC3A208-B26D-4EDC-8453-63833FF1F763}"/>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Die Technik hinter Spendly</a:t>
            </a:r>
          </a:p>
        </p:txBody>
      </p:sp>
      <p:sp>
        <p:nvSpPr>
          <p:cNvPr id="3" name="">
            <a:extLst xmlns:a="http://schemas.openxmlformats.org/drawingml/2006/main">
              <a:ext uri="{FF2B5EF4-FFF2-40B4-BE49-F238E27FC236}">
                <a16:creationId xmlns:a16="http://schemas.microsoft.com/office/drawing/2014/main" id="{25E6438F-AD48-40A5-BB46-864AB0188D07}"/>
              </a:ext>
            </a:extLst>
          </p:cNvPr>
          <p:cNvSpPr>
            <a:spLocks xmlns:a="http://schemas.openxmlformats.org/drawingml/2006/main" noGrp="1"/>
          </p:cNvSpPr>
          <p:nvPr/>
        </p:nvSpPr>
        <p:spPr>
          <a:xfrm xmlns:a="http://schemas.openxmlformats.org/drawingml/2006/main">
            <a:off x="619125" y="13620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F5A45"/>
                </a:solidFill>
                <a:latin typeface="Inter"/>
                <a:ea typeface="Inter"/>
                <a:cs typeface="Inter"/>
              </a:defRPr>
            </a:pPr>
            <a:r>
              <a:rPr sz="1875" b="0">
                <a:solidFill>
                  <a:srgbClr val="1F5A45"/>
                </a:solidFill>
                <a:latin typeface="Inter"/>
                <a:ea typeface="Inter"/>
                <a:cs typeface="Inter"/>
              </a:rPr>
              <a:t>React Native und Expo, lokale SQLite-Datenbank</a:t>
            </a:r>
          </a:p>
        </p:txBody>
      </p:sp>
      <p:graphicFrame>
        <p:nvGraphicFramePr>
          <p:cNvPr id="9" name=""/>
          <p:cNvGraphicFramePr/>
          <p:nvPr/>
        </p:nvGraphicFramePr>
        <p:xfrm>
          <a:off xmlns:a="http://schemas.openxmlformats.org/drawingml/2006/main" x="609600" y="2019300"/>
          <a:ext xmlns:a="http://schemas.openxmlformats.org/drawingml/2006/main" cx="10953750" cy="3638550"/>
        </p:xfrm>
        <a:graphic xmlns:a="http://schemas.openxmlformats.org/drawingml/2006/main">
          <a:graphicData uri="http://schemas.openxmlformats.org/drawingml/2006/table">
            <a:tbl>
              <a:tblPr firstRow="1" bandRow="0"/>
              <a:tblGrid>
                <a:gridCol w="3000375"/>
                <a:gridCol w="3810000"/>
                <a:gridCol w="4143375"/>
              </a:tblGrid>
              <a:tr h="590550">
                <a:tc>
                  <a:txBody>
                    <a:bodyPr/>
                    <a:lstStyle/>
                    <a:p>
                      <a:r>
                        <a:rPr sz="1725" b="1">
                          <a:solidFill>
                            <a:srgbClr val="F6F5F1"/>
                          </a:solidFill>
                          <a:latin typeface="Inter"/>
                          <a:ea typeface="Inter"/>
                          <a:cs typeface="Inter"/>
                        </a:rPr>
                        <a:t>Aus LB1</a:t>
                      </a:r>
                    </a:p>
                  </a:txBody>
                  <a:tcPr marL="171450" marR="171450" marT="114300" marB="114300" anchor="ctr">
                    <a:lnL w="0">
                      <a:noFill/>
                    </a:lnL>
                    <a:lnT w="6191">
                      <a:solidFill>
                        <a:srgbClr val="D6D8D0"/>
                      </a:solidFill>
                    </a:lnT>
                    <a:solidFill>
                      <a:srgbClr val="1F5A45"/>
                    </a:solidFill>
                  </a:tcPr>
                </a:tc>
                <a:tc>
                  <a:txBody>
                    <a:bodyPr/>
                    <a:lstStyle/>
                    <a:p>
                      <a:r>
                        <a:rPr sz="1725" b="1">
                          <a:solidFill>
                            <a:srgbClr val="F6F5F1"/>
                          </a:solidFill>
                          <a:latin typeface="Inter"/>
                          <a:ea typeface="Inter"/>
                          <a:cs typeface="Inter"/>
                        </a:rPr>
                        <a:t>App heute</a:t>
                      </a:r>
                    </a:p>
                  </a:txBody>
                  <a:tcPr marL="171450" marR="171450" marT="114300" marB="114300" anchor="ctr">
                    <a:lnT w="6191">
                      <a:solidFill>
                        <a:srgbClr val="D6D8D0"/>
                      </a:solidFill>
                    </a:lnT>
                    <a:solidFill>
                      <a:srgbClr val="1F5A45"/>
                    </a:solidFill>
                  </a:tcPr>
                </a:tc>
                <a:tc>
                  <a:txBody>
                    <a:bodyPr/>
                    <a:lstStyle/>
                    <a:p>
                      <a:r>
                        <a:rPr sz="1725" b="1">
                          <a:solidFill>
                            <a:srgbClr val="F6F5F1"/>
                          </a:solidFill>
                          <a:latin typeface="Inter"/>
                          <a:ea typeface="Inter"/>
                          <a:cs typeface="Inter"/>
                        </a:rPr>
                        <a:t>Ergebnis</a:t>
                      </a:r>
                    </a:p>
                  </a:txBody>
                  <a:tcPr marL="171450" marR="171450" marT="114300" marB="114300" anchor="ctr">
                    <a:lnR w="0">
                      <a:noFill/>
                    </a:lnR>
                    <a:lnT w="6191">
                      <a:solidFill>
                        <a:srgbClr val="D6D8D0"/>
                      </a:solidFill>
                    </a:lnT>
                    <a:solidFill>
                      <a:srgbClr val="1F5A45"/>
                    </a:solidFill>
                  </a:tcPr>
                </a:tc>
              </a:tr>
              <a:tr h="762000">
                <a:tc>
                  <a:txBody>
                    <a:bodyPr/>
                    <a:lstStyle/>
                    <a:p>
                      <a:r>
                        <a:rPr sz="1875">
                          <a:solidFill>
                            <a:srgbClr val="15171A"/>
                          </a:solidFill>
                          <a:latin typeface="Inter"/>
                          <a:ea typeface="Inter"/>
                          <a:cs typeface="Inter"/>
                        </a:rPr>
                        <a:t>Budget pro Monat</a:t>
                      </a:r>
                    </a:p>
                  </a:txBody>
                  <a:tcPr marL="171450" marR="171450" marT="114300" marB="114300" anchor="ctr">
                    <a:lnL w="0">
                      <a:noFill/>
                    </a:lnL>
                    <a:solidFill>
                      <a:srgbClr val="F6F5F1"/>
                    </a:solidFill>
                  </a:tcPr>
                </a:tc>
                <a:tc>
                  <a:txBody>
                    <a:bodyPr/>
                    <a:lstStyle/>
                    <a:p>
                      <a:r>
                        <a:rPr sz="1875">
                          <a:solidFill>
                            <a:srgbClr val="15171A"/>
                          </a:solidFill>
                          <a:latin typeface="Inter"/>
                          <a:ea typeface="Inter"/>
                          <a:cs typeface="Inter"/>
                        </a:rPr>
                        <a:t>Eigene Monatswerte</a:t>
                      </a:r>
                    </a:p>
                  </a:txBody>
                  <a:tcPr marL="171450" marR="171450" marT="114300" marB="114300" anchor="ctr">
                    <a:solidFill>
                      <a:srgbClr val="F6F5F1"/>
                    </a:solidFill>
                  </a:tcPr>
                </a:tc>
                <a:tc>
                  <a:txBody>
                    <a:bodyPr/>
                    <a:lstStyle/>
                    <a:p>
                      <a:r>
                        <a:rPr sz="1875">
                          <a:solidFill>
                            <a:srgbClr val="15171A"/>
                          </a:solidFill>
                          <a:latin typeface="Inter"/>
                          <a:ea typeface="Inter"/>
                          <a:cs typeface="Inter"/>
                        </a:rPr>
                        <a:t>Alte Budgets bleiben erhalten</a:t>
                      </a:r>
                    </a:p>
                  </a:txBody>
                  <a:tcPr marL="171450" marR="171450" marT="114300" marB="114300" anchor="ctr">
                    <a:lnR w="0">
                      <a:noFill/>
                    </a:lnR>
                    <a:solidFill>
                      <a:srgbClr val="F6F5F1"/>
                    </a:solidFill>
                  </a:tcPr>
                </a:tc>
              </a:tr>
              <a:tr h="762000">
                <a:tc>
                  <a:txBody>
                    <a:bodyPr/>
                    <a:lstStyle/>
                    <a:p>
                      <a:r>
                        <a:rPr sz="1875">
                          <a:solidFill>
                            <a:srgbClr val="15171A"/>
                          </a:solidFill>
                          <a:latin typeface="Inter"/>
                          <a:ea typeface="Inter"/>
                          <a:cs typeface="Inter"/>
                        </a:rPr>
                        <a:t>Rückgängig für 5 Sekunden</a:t>
                      </a:r>
                    </a:p>
                  </a:txBody>
                  <a:tcPr marL="171450" marR="171450" marT="114300" marB="114300" anchor="ctr">
                    <a:lnL w="0">
                      <a:noFill/>
                    </a:lnL>
                    <a:solidFill>
                      <a:srgbClr val="F6F5F1"/>
                    </a:solidFill>
                  </a:tcPr>
                </a:tc>
                <a:tc>
                  <a:txBody>
                    <a:bodyPr/>
                    <a:lstStyle/>
                    <a:p>
                      <a:r>
                        <a:rPr sz="1875">
                          <a:solidFill>
                            <a:srgbClr val="15171A"/>
                          </a:solidFill>
                          <a:latin typeface="Inter"/>
                          <a:ea typeface="Inter"/>
                          <a:cs typeface="Inter"/>
                        </a:rPr>
                        <a:t>Frist in SQLite</a:t>
                      </a:r>
                    </a:p>
                  </a:txBody>
                  <a:tcPr marL="171450" marR="171450" marT="114300" marB="114300" anchor="ctr">
                    <a:solidFill>
                      <a:srgbClr val="F6F5F1"/>
                    </a:solidFill>
                  </a:tcPr>
                </a:tc>
                <a:tc>
                  <a:txBody>
                    <a:bodyPr/>
                    <a:lstStyle/>
                    <a:p>
                      <a:r>
                        <a:rPr sz="1875">
                          <a:solidFill>
                            <a:srgbClr val="15171A"/>
                          </a:solidFill>
                          <a:latin typeface="Inter"/>
                          <a:ea typeface="Inter"/>
                          <a:cs typeface="Inter"/>
                        </a:rPr>
                        <a:t>Bleibt nach Neustart gültig</a:t>
                      </a:r>
                    </a:p>
                  </a:txBody>
                  <a:tcPr marL="171450" marR="171450" marT="114300" marB="114300" anchor="ctr">
                    <a:lnR w="0">
                      <a:noFill/>
                    </a:lnR>
                    <a:solidFill>
                      <a:srgbClr val="F6F5F1"/>
                    </a:solidFill>
                  </a:tcPr>
                </a:tc>
              </a:tr>
              <a:tr h="762000">
                <a:tc>
                  <a:txBody>
                    <a:bodyPr/>
                    <a:lstStyle/>
                    <a:p>
                      <a:r>
                        <a:rPr sz="1875">
                          <a:solidFill>
                            <a:srgbClr val="15171A"/>
                          </a:solidFill>
                          <a:latin typeface="Inter"/>
                          <a:ea typeface="Inter"/>
                          <a:cs typeface="Inter"/>
                        </a:rPr>
                        <a:t>Geld in ganzen Rappen</a:t>
                      </a:r>
                    </a:p>
                  </a:txBody>
                  <a:tcPr marL="171450" marR="171450" marT="114300" marB="114300" anchor="ctr">
                    <a:lnL w="0">
                      <a:noFill/>
                    </a:lnL>
                    <a:solidFill>
                      <a:srgbClr val="F6F5F1"/>
                    </a:solidFill>
                  </a:tcPr>
                </a:tc>
                <a:tc>
                  <a:txBody>
                    <a:bodyPr/>
                    <a:lstStyle/>
                    <a:p>
                      <a:r>
                        <a:rPr sz="1875">
                          <a:solidFill>
                            <a:srgbClr val="15171A"/>
                          </a:solidFill>
                          <a:latin typeface="Inter"/>
                          <a:ea typeface="Inter"/>
                          <a:cs typeface="Inter"/>
                        </a:rPr>
                        <a:t>CHF 14.80 = 1480</a:t>
                      </a:r>
                    </a:p>
                  </a:txBody>
                  <a:tcPr marL="171450" marR="171450" marT="114300" marB="114300" anchor="ctr">
                    <a:solidFill>
                      <a:srgbClr val="F6F5F1"/>
                    </a:solidFill>
                  </a:tcPr>
                </a:tc>
                <a:tc>
                  <a:txBody>
                    <a:bodyPr/>
                    <a:lstStyle/>
                    <a:p>
                      <a:r>
                        <a:rPr sz="1875">
                          <a:solidFill>
                            <a:srgbClr val="15171A"/>
                          </a:solidFill>
                          <a:latin typeface="Inter"/>
                          <a:ea typeface="Inter"/>
                          <a:cs typeface="Inter"/>
                        </a:rPr>
                        <a:t>Wie geplant</a:t>
                      </a:r>
                    </a:p>
                  </a:txBody>
                  <a:tcPr marL="171450" marR="171450" marT="114300" marB="114300" anchor="ctr">
                    <a:lnR w="0">
                      <a:noFill/>
                    </a:lnR>
                    <a:solidFill>
                      <a:srgbClr val="F6F5F1"/>
                    </a:solidFill>
                  </a:tcPr>
                </a:tc>
              </a:tr>
              <a:tr h="762000">
                <a:tc>
                  <a:txBody>
                    <a:bodyPr/>
                    <a:lstStyle/>
                    <a:p>
                      <a:r>
                        <a:rPr sz="1875">
                          <a:solidFill>
                            <a:srgbClr val="15171A"/>
                          </a:solidFill>
                          <a:latin typeface="Inter"/>
                          <a:ea typeface="Inter"/>
                          <a:cs typeface="Inter"/>
                        </a:rPr>
                        <a:t>Passwortableitung</a:t>
                      </a:r>
                    </a:p>
                  </a:txBody>
                  <a:tcPr marL="171450" marR="171450" marT="114300" marB="114300" anchor="ctr">
                    <a:lnL w="0">
                      <a:noFill/>
                    </a:lnL>
                    <a:lnB w="6191">
                      <a:solidFill>
                        <a:srgbClr val="D6D8D0"/>
                      </a:solidFill>
                    </a:lnB>
                    <a:solidFill>
                      <a:srgbClr val="F6F5F1"/>
                    </a:solidFill>
                  </a:tcPr>
                </a:tc>
                <a:tc>
                  <a:txBody>
                    <a:bodyPr/>
                    <a:lstStyle/>
                    <a:p>
                      <a:r>
                        <a:rPr sz="1875">
                          <a:solidFill>
                            <a:srgbClr val="15171A"/>
                          </a:solidFill>
                          <a:latin typeface="Inter"/>
                          <a:ea typeface="Inter"/>
                          <a:cs typeface="Inter"/>
                        </a:rPr>
                        <a:t>SHA-256 mit Salt</a:t>
                      </a:r>
                    </a:p>
                  </a:txBody>
                  <a:tcPr marL="171450" marR="171450" marT="114300" marB="114300" anchor="ctr">
                    <a:lnB w="6191">
                      <a:solidFill>
                        <a:srgbClr val="D6D8D0"/>
                      </a:solidFill>
                    </a:lnB>
                    <a:solidFill>
                      <a:srgbClr val="F6F5F1"/>
                    </a:solidFill>
                  </a:tcPr>
                </a:tc>
                <a:tc>
                  <a:txBody>
                    <a:bodyPr/>
                    <a:lstStyle/>
                    <a:p>
                      <a:r>
                        <a:rPr sz="1875">
                          <a:solidFill>
                            <a:srgbClr val="15171A"/>
                          </a:solidFill>
                          <a:latin typeface="Inter"/>
                          <a:ea typeface="Inter"/>
                          <a:cs typeface="Inter"/>
                        </a:rPr>
                        <a:t>Einfacher als geplant</a:t>
                      </a:r>
                    </a:p>
                  </a:txBody>
                  <a:tcPr marL="171450" marR="171450" marT="114300" marB="114300" anchor="ctr">
                    <a:lnR w="0">
                      <a:noFill/>
                    </a:lnR>
                    <a:lnB w="6191">
                      <a:solidFill>
                        <a:srgbClr val="D6D8D0"/>
                      </a:solidFill>
                    </a:lnB>
                    <a:solidFill>
                      <a:srgbClr val="F6F5F1"/>
                    </a:solidFill>
                  </a:tcPr>
                </a:tc>
              </a:tr>
            </a:tbl>
          </a:graphicData>
        </a:graphic>
      </p:graphicFrame>
      <p:sp>
        <p:nvSpPr>
          <p:cNvPr id="5" name="">
            <a:extLst xmlns:a="http://schemas.openxmlformats.org/drawingml/2006/main">
              <a:ext uri="{FF2B5EF4-FFF2-40B4-BE49-F238E27FC236}">
                <a16:creationId xmlns:a16="http://schemas.microsoft.com/office/drawing/2014/main" id="{AA30CCE4-EF7E-4B06-83BE-AF56F77B764A}"/>
              </a:ext>
            </a:extLst>
          </p:cNvPr>
          <p:cNvSpPr>
            <a:spLocks xmlns:a="http://schemas.openxmlformats.org/drawingml/2006/main" noGrp="1"/>
          </p:cNvSpPr>
          <p:nvPr/>
        </p:nvSpPr>
        <p:spPr>
          <a:xfrm xmlns:a="http://schemas.openxmlformats.org/drawingml/2006/main">
            <a:off x="628650" y="5962650"/>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F5A45"/>
                </a:solidFill>
                <a:latin typeface="Inter"/>
                <a:ea typeface="Inter"/>
                <a:cs typeface="Inter"/>
              </a:defRPr>
            </a:pPr>
            <a:r>
              <a:rPr sz="1725" b="0">
                <a:solidFill>
                  <a:srgbClr val="1F5A45"/>
                </a:solidFill>
                <a:latin typeface="Inter"/>
                <a:ea typeface="Inter"/>
                <a:cs typeface="Inter"/>
              </a:rPr>
              <a:t>Formular prüft. Context koordiniert. SQLite speichert.</a:t>
            </a:r>
          </a:p>
        </p:txBody>
      </p:sp>
    </p:spTree>
    <p:extLst>
      <p:ext uri="{BB962C8B-B14F-4D97-AF65-F5344CB8AC3E}">
        <p14:creationId xmlns:p14="http://schemas.microsoft.com/office/powerpoint/2010/main" val="2086168124"/>
      </p:ext>
    </p:extLst>
  </p:cSld>
</p:sld>
</file>

<file path=ppt/slides/slide8.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3416A6-8014-4252-BAB3-2023F0DCE510}"/>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8</a:t>
            </a:r>
          </a:p>
        </p:txBody>
      </p:sp>
      <p:sp>
        <p:nvSpPr>
          <p:cNvPr id="2" name="">
            <a:extLst xmlns:a="http://schemas.openxmlformats.org/drawingml/2006/main">
              <a:ext uri="{FF2B5EF4-FFF2-40B4-BE49-F238E27FC236}">
                <a16:creationId xmlns:a16="http://schemas.microsoft.com/office/drawing/2014/main" id="{DA7D1D0B-F4D5-4938-9E3A-E87D8658C438}"/>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Der Kern funktioniert</a:t>
            </a:r>
          </a:p>
        </p:txBody>
      </p:sp>
      <p:sp>
        <p:nvSpPr>
          <p:cNvPr id="3" name="">
            <a:extLst xmlns:a="http://schemas.openxmlformats.org/drawingml/2006/main">
              <a:ext uri="{FF2B5EF4-FFF2-40B4-BE49-F238E27FC236}">
                <a16:creationId xmlns:a16="http://schemas.microsoft.com/office/drawing/2014/main" id="{52E7DB7D-70D5-44A6-8DF5-A136BF48DB2E}"/>
              </a:ext>
            </a:extLst>
          </p:cNvPr>
          <p:cNvSpPr>
            <a:spLocks xmlns:a="http://schemas.openxmlformats.org/drawingml/2006/main" noGrp="1"/>
          </p:cNvSpPr>
          <p:nvPr/>
        </p:nvSpPr>
        <p:spPr>
          <a:xfrm xmlns:a="http://schemas.openxmlformats.org/drawingml/2006/main">
            <a:off x="609600" y="1581150"/>
            <a:ext cx="414337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75" b="0">
                <a:solidFill>
                  <a:srgbClr val="1F5A45"/>
                </a:solidFill>
                <a:latin typeface="Newsreader"/>
                <a:ea typeface="Newsreader"/>
                <a:cs typeface="Newsreader"/>
              </a:defRPr>
            </a:pPr>
            <a:r>
              <a:rPr sz="10575" b="0">
                <a:solidFill>
                  <a:srgbClr val="1F5A45"/>
                </a:solidFill>
                <a:latin typeface="Newsreader"/>
                <a:ea typeface="Newsreader"/>
                <a:cs typeface="Newsreader"/>
              </a:rPr>
              <a:t>91</a:t>
            </a:r>
          </a:p>
        </p:txBody>
      </p:sp>
      <p:sp>
        <p:nvSpPr>
          <p:cNvPr id="4" name="">
            <a:extLst xmlns:a="http://schemas.openxmlformats.org/drawingml/2006/main">
              <a:ext uri="{FF2B5EF4-FFF2-40B4-BE49-F238E27FC236}">
                <a16:creationId xmlns:a16="http://schemas.microsoft.com/office/drawing/2014/main" id="{8D2C342F-07F6-41A2-BDE2-B8E11691007F}"/>
              </a:ext>
            </a:extLst>
          </p:cNvPr>
          <p:cNvSpPr>
            <a:spLocks xmlns:a="http://schemas.openxmlformats.org/drawingml/2006/main" noGrp="1"/>
          </p:cNvSpPr>
          <p:nvPr/>
        </p:nvSpPr>
        <p:spPr>
          <a:xfrm xmlns:a="http://schemas.openxmlformats.org/drawingml/2006/main">
            <a:off x="647700" y="3419475"/>
            <a:ext cx="5238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5171A"/>
                </a:solidFill>
                <a:latin typeface="Inter"/>
                <a:ea typeface="Inter"/>
                <a:cs typeface="Inter"/>
              </a:defRPr>
            </a:pPr>
            <a:r>
              <a:rPr sz="2250" b="0">
                <a:solidFill>
                  <a:srgbClr val="15171A"/>
                </a:solidFill>
                <a:latin typeface="Inter"/>
                <a:ea typeface="Inter"/>
                <a:cs typeface="Inter"/>
              </a:rPr>
              <a:t>automatisierte Tests bestanden</a:t>
            </a:r>
          </a:p>
        </p:txBody>
      </p:sp>
      <p:sp>
        <p:nvSpPr>
          <p:cNvPr id="5" name="">
            <a:extLst xmlns:a="http://schemas.openxmlformats.org/drawingml/2006/main">
              <a:ext uri="{FF2B5EF4-FFF2-40B4-BE49-F238E27FC236}">
                <a16:creationId xmlns:a16="http://schemas.microsoft.com/office/drawing/2014/main" id="{F957634E-C5EB-4984-8CDD-ECF315387FC0}"/>
              </a:ext>
            </a:extLst>
          </p:cNvPr>
          <p:cNvSpPr>
            <a:spLocks xmlns:a="http://schemas.openxmlformats.org/drawingml/2006/main" noGrp="1"/>
          </p:cNvSpPr>
          <p:nvPr/>
        </p:nvSpPr>
        <p:spPr>
          <a:xfrm xmlns:a="http://schemas.openxmlformats.org/drawingml/2006/main">
            <a:off x="647700" y="4552950"/>
            <a:ext cx="5524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6E6D68"/>
                </a:solidFill>
                <a:latin typeface="Inter"/>
                <a:ea typeface="Inter"/>
                <a:cs typeface="Inter"/>
              </a:defRPr>
            </a:pPr>
            <a:r>
              <a:rPr sz="1950" b="0">
                <a:solidFill>
                  <a:srgbClr val="6E6D68"/>
                </a:solidFill>
                <a:latin typeface="Inter"/>
                <a:ea typeface="Inter"/>
                <a:cs typeface="Inter"/>
              </a:rPr>
              <a:t>9 Testsuiten</a:t>
            </a:r>
          </a:p>
          <a:p xmlns:a="http://schemas.openxmlformats.org/drawingml/2006/main">
            <a:pPr algn="l">
              <a:defRPr sz="1950" b="0">
                <a:solidFill>
                  <a:srgbClr val="6E6D68"/>
                </a:solidFill>
                <a:latin typeface="Inter"/>
                <a:ea typeface="Inter"/>
                <a:cs typeface="Inter"/>
              </a:defRPr>
            </a:pPr>
            <a:r>
              <a:rPr sz="1950" b="0">
                <a:solidFill>
                  <a:srgbClr val="6E6D68"/>
                </a:solidFill>
                <a:latin typeface="Inter"/>
                <a:ea typeface="Inter"/>
                <a:cs typeface="Inter"/>
              </a:rPr>
              <a:t>Echtes SQLite in den Regressionen</a:t>
            </a:r>
          </a:p>
          <a:p xmlns:a="http://schemas.openxmlformats.org/drawingml/2006/main">
            <a:pPr algn="l">
              <a:defRPr sz="1950" b="0">
                <a:solidFill>
                  <a:srgbClr val="6E6D68"/>
                </a:solidFill>
                <a:latin typeface="Inter"/>
                <a:ea typeface="Inter"/>
                <a:cs typeface="Inter"/>
              </a:defRPr>
            </a:pPr>
            <a:r>
              <a:rPr sz="1950" b="0">
                <a:solidFill>
                  <a:srgbClr val="6E6D68"/>
                </a:solidFill>
                <a:latin typeface="Inter"/>
                <a:ea typeface="Inter"/>
                <a:cs typeface="Inter"/>
              </a:rPr>
              <a:t>ESLint ohne Fehler</a:t>
            </a:r>
          </a:p>
        </p:txBody>
      </p:sp>
      <p:sp>
        <p:nvSpPr>
          <p:cNvPr id="6" name="">
            <a:extLst xmlns:a="http://schemas.openxmlformats.org/drawingml/2006/main">
              <a:ext uri="{FF2B5EF4-FFF2-40B4-BE49-F238E27FC236}">
                <a16:creationId xmlns:a16="http://schemas.microsoft.com/office/drawing/2014/main" id="{7B2CF585-AD2D-4C64-821F-C4FA2A6C6894}"/>
              </a:ext>
            </a:extLst>
          </p:cNvPr>
          <p:cNvSpPr>
            <a:spLocks xmlns:a="http://schemas.openxmlformats.org/drawingml/2006/main" noGrp="1"/>
          </p:cNvSpPr>
          <p:nvPr/>
        </p:nvSpPr>
        <p:spPr>
          <a:xfrm xmlns:a="http://schemas.openxmlformats.org/drawingml/2006/main">
            <a:off x="6838950" y="1819275"/>
            <a:ext cx="4667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F5A45"/>
                </a:solidFill>
                <a:latin typeface="Newsreader"/>
                <a:ea typeface="Newsreader"/>
                <a:cs typeface="Newsreader"/>
              </a:defRPr>
            </a:pPr>
            <a:r>
              <a:rPr sz="2625" b="0">
                <a:solidFill>
                  <a:srgbClr val="1F5A45"/>
                </a:solidFill>
                <a:latin typeface="Newsreader"/>
                <a:ea typeface="Newsreader"/>
                <a:cs typeface="Newsreader"/>
              </a:rPr>
              <a:t>Eigener iOS-Release-Build</a:t>
            </a:r>
          </a:p>
        </p:txBody>
      </p:sp>
      <p:sp>
        <p:nvSpPr>
          <p:cNvPr id="7" name="">
            <a:extLst xmlns:a="http://schemas.openxmlformats.org/drawingml/2006/main">
              <a:ext uri="{FF2B5EF4-FFF2-40B4-BE49-F238E27FC236}">
                <a16:creationId xmlns:a16="http://schemas.microsoft.com/office/drawing/2014/main" id="{620EC957-E466-4276-835A-DAB1AFF847A5}"/>
              </a:ext>
            </a:extLst>
          </p:cNvPr>
          <p:cNvSpPr>
            <a:spLocks xmlns:a="http://schemas.openxmlformats.org/drawingml/2006/main" noGrp="1"/>
          </p:cNvSpPr>
          <p:nvPr/>
        </p:nvSpPr>
        <p:spPr>
          <a:xfrm xmlns:a="http://schemas.openxmlformats.org/drawingml/2006/main">
            <a:off x="6886575" y="2952750"/>
            <a:ext cx="4572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Erfassen und korrigieren</a:t>
            </a:r>
          </a:p>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Löschen und zurückholen</a:t>
            </a:r>
          </a:p>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Nach Neustart wiederfinden</a:t>
            </a:r>
          </a:p>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Ohne Entwicklungsserver</a:t>
            </a:r>
          </a:p>
        </p:txBody>
      </p:sp>
      <p:sp>
        <p:nvSpPr>
          <p:cNvPr id="8" name="">
            <a:extLst xmlns:a="http://schemas.openxmlformats.org/drawingml/2006/main">
              <a:ext uri="{FF2B5EF4-FFF2-40B4-BE49-F238E27FC236}">
                <a16:creationId xmlns:a16="http://schemas.microsoft.com/office/drawing/2014/main" id="{5E517A13-DED6-4C7B-AE1D-4F3AE45EB982}"/>
              </a:ext>
            </a:extLst>
          </p:cNvPr>
          <p:cNvSpPr>
            <a:spLocks xmlns:a="http://schemas.openxmlformats.org/drawingml/2006/main" noGrp="1"/>
          </p:cNvSpPr>
          <p:nvPr/>
        </p:nvSpPr>
        <p:spPr>
          <a:xfrm xmlns:a="http://schemas.openxmlformats.org/drawingml/2006/main">
            <a:off x="6877050" y="5476875"/>
            <a:ext cx="4572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Face ID simuliert geprüft.</a:t>
            </a:r>
          </a:p>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Physischer Scan und Nutzertest offen.</a:t>
            </a:r>
          </a:p>
        </p:txBody>
      </p:sp>
    </p:spTree>
    <p:extLst>
      <p:ext uri="{BB962C8B-B14F-4D97-AF65-F5344CB8AC3E}">
        <p14:creationId xmlns:p14="http://schemas.microsoft.com/office/powerpoint/2010/main" val="662198175"/>
      </p:ext>
    </p:extLst>
  </p:cSld>
</p:sld>
</file>

<file path=ppt/slides/slide9.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AB3D0D-9869-4890-8D07-CA4CEBC4DEE7}"/>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9</a:t>
            </a:r>
          </a:p>
        </p:txBody>
      </p:sp>
      <p:sp>
        <p:nvSpPr>
          <p:cNvPr id="2" name="">
            <a:extLst xmlns:a="http://schemas.openxmlformats.org/drawingml/2006/main">
              <a:ext uri="{FF2B5EF4-FFF2-40B4-BE49-F238E27FC236}">
                <a16:creationId xmlns:a16="http://schemas.microsoft.com/office/drawing/2014/main" id="{A09BDF87-4E87-4F20-9F74-863E3B0B97BC}"/>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Der nächste Beweis: Alltag</a:t>
            </a:r>
          </a:p>
        </p:txBody>
      </p:sp>
      <p:sp>
        <p:nvSpPr>
          <p:cNvPr id="3" name="">
            <a:extLst xmlns:a="http://schemas.openxmlformats.org/drawingml/2006/main">
              <a:ext uri="{FF2B5EF4-FFF2-40B4-BE49-F238E27FC236}">
                <a16:creationId xmlns:a16="http://schemas.microsoft.com/office/drawing/2014/main" id="{65C7381F-A525-4B91-9EF9-428FB348608B}"/>
              </a:ext>
            </a:extLst>
          </p:cNvPr>
          <p:cNvSpPr>
            <a:spLocks xmlns:a="http://schemas.openxmlformats.org/drawingml/2006/main" noGrp="1"/>
          </p:cNvSpPr>
          <p:nvPr/>
        </p:nvSpPr>
        <p:spPr>
          <a:xfrm xmlns:a="http://schemas.openxmlformats.org/drawingml/2006/main">
            <a:off x="628650" y="1638300"/>
            <a:ext cx="3429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75" b="0">
                <a:solidFill>
                  <a:srgbClr val="1F5A45"/>
                </a:solidFill>
                <a:latin typeface="Newsreader"/>
                <a:ea typeface="Newsreader"/>
                <a:cs typeface="Newsreader"/>
              </a:defRPr>
            </a:pPr>
            <a:r>
              <a:rPr sz="10575" b="0">
                <a:solidFill>
                  <a:srgbClr val="1F5A45"/>
                </a:solidFill>
                <a:latin typeface="Newsreader"/>
                <a:ea typeface="Newsreader"/>
                <a:cs typeface="Newsreader"/>
              </a:rPr>
              <a:t>5</a:t>
            </a:r>
          </a:p>
        </p:txBody>
      </p:sp>
      <p:sp>
        <p:nvSpPr>
          <p:cNvPr id="4" name="">
            <a:extLst xmlns:a="http://schemas.openxmlformats.org/drawingml/2006/main">
              <a:ext uri="{FF2B5EF4-FFF2-40B4-BE49-F238E27FC236}">
                <a16:creationId xmlns:a16="http://schemas.microsoft.com/office/drawing/2014/main" id="{20F42D9B-CE39-48AA-8E8A-88ED37CC2D38}"/>
              </a:ext>
            </a:extLst>
          </p:cNvPr>
          <p:cNvSpPr>
            <a:spLocks xmlns:a="http://schemas.openxmlformats.org/drawingml/2006/main" noGrp="1"/>
          </p:cNvSpPr>
          <p:nvPr/>
        </p:nvSpPr>
        <p:spPr>
          <a:xfrm xmlns:a="http://schemas.openxmlformats.org/drawingml/2006/main">
            <a:off x="666750" y="3429000"/>
            <a:ext cx="5172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Lernende oder Studierende</a:t>
            </a:r>
          </a:p>
        </p:txBody>
      </p:sp>
      <p:sp>
        <p:nvSpPr>
          <p:cNvPr id="5" name="">
            <a:extLst xmlns:a="http://schemas.openxmlformats.org/drawingml/2006/main">
              <a:ext uri="{FF2B5EF4-FFF2-40B4-BE49-F238E27FC236}">
                <a16:creationId xmlns:a16="http://schemas.microsoft.com/office/drawing/2014/main" id="{70E3F2B8-E084-4E3B-BA19-72B1DE7BDD7C}"/>
              </a:ext>
            </a:extLst>
          </p:cNvPr>
          <p:cNvSpPr>
            <a:spLocks xmlns:a="http://schemas.openxmlformats.org/drawingml/2006/main" noGrp="1"/>
          </p:cNvSpPr>
          <p:nvPr/>
        </p:nvSpPr>
        <p:spPr>
          <a:xfrm xmlns:a="http://schemas.openxmlformats.org/drawingml/2006/main">
            <a:off x="666750" y="4419600"/>
            <a:ext cx="5133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F5A45"/>
                </a:solidFill>
                <a:latin typeface="Newsreader"/>
                <a:ea typeface="Newsreader"/>
                <a:cs typeface="Newsreader"/>
              </a:defRPr>
            </a:pPr>
            <a:r>
              <a:rPr sz="2550" b="0">
                <a:solidFill>
                  <a:srgbClr val="1F5A45"/>
                </a:solidFill>
                <a:latin typeface="Newsreader"/>
                <a:ea typeface="Newsreader"/>
                <a:cs typeface="Newsreader"/>
              </a:rPr>
              <a:t>1 Woche mit Spendly</a:t>
            </a:r>
          </a:p>
        </p:txBody>
      </p:sp>
      <p:sp>
        <p:nvSpPr>
          <p:cNvPr id="6" name="">
            <a:extLst xmlns:a="http://schemas.openxmlformats.org/drawingml/2006/main">
              <a:ext uri="{FF2B5EF4-FFF2-40B4-BE49-F238E27FC236}">
                <a16:creationId xmlns:a16="http://schemas.microsoft.com/office/drawing/2014/main" id="{C0423CC8-F1BD-4D6D-AE67-37DF605EAB04}"/>
              </a:ext>
            </a:extLst>
          </p:cNvPr>
          <p:cNvSpPr>
            <a:spLocks xmlns:a="http://schemas.openxmlformats.org/drawingml/2006/main" noGrp="1"/>
          </p:cNvSpPr>
          <p:nvPr/>
        </p:nvSpPr>
        <p:spPr>
          <a:xfrm xmlns:a="http://schemas.openxmlformats.org/drawingml/2006/main">
            <a:off x="666750" y="5295900"/>
            <a:ext cx="50768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Geplante Testphase</a:t>
            </a:r>
          </a:p>
        </p:txBody>
      </p:sp>
      <p:sp>
        <p:nvSpPr>
          <p:cNvPr id="7" name="">
            <a:extLst xmlns:a="http://schemas.openxmlformats.org/drawingml/2006/main">
              <a:ext uri="{FF2B5EF4-FFF2-40B4-BE49-F238E27FC236}">
                <a16:creationId xmlns:a16="http://schemas.microsoft.com/office/drawing/2014/main" id="{B738FD79-5B30-455B-99AD-9312E9D57E86}"/>
              </a:ext>
            </a:extLst>
          </p:cNvPr>
          <p:cNvSpPr>
            <a:spLocks xmlns:a="http://schemas.openxmlformats.org/drawingml/2006/main" noGrp="1"/>
          </p:cNvSpPr>
          <p:nvPr/>
        </p:nvSpPr>
        <p:spPr>
          <a:xfrm xmlns:a="http://schemas.openxmlformats.org/drawingml/2006/main">
            <a:off x="6400800" y="1838325"/>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F5A45"/>
                </a:solidFill>
                <a:latin typeface="Newsreader"/>
                <a:ea typeface="Newsreader"/>
                <a:cs typeface="Newsreader"/>
              </a:defRPr>
            </a:pPr>
            <a:r>
              <a:rPr sz="2625" b="0">
                <a:solidFill>
                  <a:srgbClr val="1F5A45"/>
                </a:solidFill>
                <a:latin typeface="Newsreader"/>
                <a:ea typeface="Newsreader"/>
                <a:cs typeface="Newsreader"/>
              </a:rPr>
              <a:t>Was wir herausfinden wollen</a:t>
            </a:r>
          </a:p>
        </p:txBody>
      </p:sp>
      <p:sp>
        <p:nvSpPr>
          <p:cNvPr id="8" name="">
            <a:extLst xmlns:a="http://schemas.openxmlformats.org/drawingml/2006/main">
              <a:ext uri="{FF2B5EF4-FFF2-40B4-BE49-F238E27FC236}">
                <a16:creationId xmlns:a16="http://schemas.microsoft.com/office/drawing/2014/main" id="{F1DFED6A-0026-42E5-8493-24C8990E85AE}"/>
              </a:ext>
            </a:extLst>
          </p:cNvPr>
          <p:cNvSpPr>
            <a:spLocks xmlns:a="http://schemas.openxmlformats.org/drawingml/2006/main" noGrp="1"/>
          </p:cNvSpPr>
          <p:nvPr/>
        </p:nvSpPr>
        <p:spPr>
          <a:xfrm xmlns:a="http://schemas.openxmlformats.org/drawingml/2006/main">
            <a:off x="6457950" y="3105150"/>
            <a:ext cx="5095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5171A"/>
                </a:solidFill>
                <a:latin typeface="Inter"/>
                <a:ea typeface="Inter"/>
                <a:cs typeface="Inter"/>
              </a:defRPr>
            </a:pPr>
            <a:r>
              <a:rPr sz="2100" b="0">
                <a:solidFill>
                  <a:srgbClr val="15171A"/>
                </a:solidFill>
                <a:latin typeface="Inter"/>
                <a:ea typeface="Inter"/>
                <a:cs typeface="Inter"/>
              </a:rPr>
              <a:t>Wie schnell gelingt eine Erfassung?</a:t>
            </a:r>
          </a:p>
        </p:txBody>
      </p:sp>
      <p:sp>
        <p:nvSpPr>
          <p:cNvPr id="9" name="">
            <a:extLst xmlns:a="http://schemas.openxmlformats.org/drawingml/2006/main">
              <a:ext uri="{FF2B5EF4-FFF2-40B4-BE49-F238E27FC236}">
                <a16:creationId xmlns:a16="http://schemas.microsoft.com/office/drawing/2014/main" id="{8D99ABDE-EAFF-4B8C-A066-840FE1F6E641}"/>
              </a:ext>
            </a:extLst>
          </p:cNvPr>
          <p:cNvSpPr>
            <a:spLocks xmlns:a="http://schemas.openxmlformats.org/drawingml/2006/main" noGrp="1"/>
          </p:cNvSpPr>
          <p:nvPr/>
        </p:nvSpPr>
        <p:spPr>
          <a:xfrm xmlns:a="http://schemas.openxmlformats.org/drawingml/2006/main">
            <a:off x="6457950" y="3867150"/>
            <a:ext cx="5095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5171A"/>
                </a:solidFill>
                <a:latin typeface="Inter"/>
                <a:ea typeface="Inter"/>
                <a:cs typeface="Inter"/>
              </a:defRPr>
            </a:pPr>
            <a:r>
              <a:rPr sz="2100" b="0">
                <a:solidFill>
                  <a:srgbClr val="15171A"/>
                </a:solidFill>
                <a:latin typeface="Inter"/>
                <a:ea typeface="Inter"/>
                <a:cs typeface="Inter"/>
              </a:rPr>
              <a:t>Wie verständlich ist der Tagesbetrag?</a:t>
            </a:r>
          </a:p>
        </p:txBody>
      </p:sp>
      <p:sp>
        <p:nvSpPr>
          <p:cNvPr id="10" name="">
            <a:extLst xmlns:a="http://schemas.openxmlformats.org/drawingml/2006/main">
              <a:ext uri="{FF2B5EF4-FFF2-40B4-BE49-F238E27FC236}">
                <a16:creationId xmlns:a16="http://schemas.microsoft.com/office/drawing/2014/main" id="{954EFA87-C14B-4CBD-9469-603B6BEFD81A}"/>
              </a:ext>
            </a:extLst>
          </p:cNvPr>
          <p:cNvSpPr>
            <a:spLocks xmlns:a="http://schemas.openxmlformats.org/drawingml/2006/main" noGrp="1"/>
          </p:cNvSpPr>
          <p:nvPr/>
        </p:nvSpPr>
        <p:spPr>
          <a:xfrm xmlns:a="http://schemas.openxmlformats.org/drawingml/2006/main">
            <a:off x="6457950" y="4629150"/>
            <a:ext cx="5095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5171A"/>
                </a:solidFill>
                <a:latin typeface="Inter"/>
                <a:ea typeface="Inter"/>
                <a:cs typeface="Inter"/>
              </a:defRPr>
            </a:pPr>
            <a:r>
              <a:rPr sz="2100" b="0">
                <a:solidFill>
                  <a:srgbClr val="15171A"/>
                </a:solidFill>
                <a:latin typeface="Inter"/>
                <a:ea typeface="Inter"/>
                <a:cs typeface="Inter"/>
              </a:rPr>
              <a:t>Wird Spendly im Alltag wieder genutzt?</a:t>
            </a:r>
          </a:p>
        </p:txBody>
      </p:sp>
      <p:sp>
        <p:nvSpPr>
          <p:cNvPr id="11" name="">
            <a:extLst xmlns:a="http://schemas.openxmlformats.org/drawingml/2006/main">
              <a:ext uri="{FF2B5EF4-FFF2-40B4-BE49-F238E27FC236}">
                <a16:creationId xmlns:a16="http://schemas.microsoft.com/office/drawing/2014/main" id="{DDE93F8B-34E9-48D7-A1D2-97AE9E2B1B2A}"/>
              </a:ext>
            </a:extLst>
          </p:cNvPr>
          <p:cNvSpPr>
            <a:spLocks xmlns:a="http://schemas.openxmlformats.org/drawingml/2006/main" noGrp="1"/>
          </p:cNvSpPr>
          <p:nvPr/>
        </p:nvSpPr>
        <p:spPr>
          <a:xfrm xmlns:a="http://schemas.openxmlformats.org/drawingml/2006/main">
            <a:off x="6448425" y="5562600"/>
            <a:ext cx="5095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Vor einem Launch: echtes iPhone,</a:t>
            </a:r>
          </a:p>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Android und Screenreader vollständig prüfen.</a:t>
            </a:r>
          </a:p>
        </p:txBody>
      </p:sp>
    </p:spTree>
    <p:extLst>
      <p:ext uri="{BB962C8B-B14F-4D97-AF65-F5344CB8AC3E}">
        <p14:creationId xmlns:p14="http://schemas.microsoft.com/office/powerpoint/2010/main" val="1403174672"/>
      </p:ext>
    </p:extLst>
  </p:cSld>
</p:sld>
</file>

<file path=ppt/slides/slide10.xml><?xml version="1.0" encoding="utf-8"?>
<p:sld xmlns:p="http://schemas.openxmlformats.org/presentationml/2006/main">
  <p:cSld>
    <p:bg>
      <p:bgPr>
        <a:solidFill xmlns:a="http://schemas.openxmlformats.org/drawingml/2006/main">
          <a:srgbClr val="1F5A4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A6CDA79-18A7-4EDB-978A-27F44232B2A9}"/>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DCEBE2"/>
                </a:solidFill>
                <a:latin typeface="Inter"/>
                <a:ea typeface="Inter"/>
                <a:cs typeface="Inter"/>
              </a:defRPr>
            </a:pPr>
            <a:r>
              <a:rPr sz="1275" b="0">
                <a:solidFill>
                  <a:srgbClr val="DCEBE2"/>
                </a:solidFill>
                <a:latin typeface="Inter"/>
                <a:ea typeface="Inter"/>
                <a:cs typeface="Inter"/>
              </a:rPr>
              <a:t>10</a:t>
            </a:r>
          </a:p>
        </p:txBody>
      </p:sp>
      <p:sp>
        <p:nvSpPr>
          <p:cNvPr id="2" name="">
            <a:extLst xmlns:a="http://schemas.openxmlformats.org/drawingml/2006/main">
              <a:ext uri="{FF2B5EF4-FFF2-40B4-BE49-F238E27FC236}">
                <a16:creationId xmlns:a16="http://schemas.microsoft.com/office/drawing/2014/main" id="{06D1F899-5E30-4E77-84C7-0D2F8C426A8D}"/>
              </a:ext>
            </a:extLst>
          </p:cNvPr>
          <p:cNvSpPr>
            <a:spLocks xmlns:a="http://schemas.openxmlformats.org/drawingml/2006/main" noGrp="1"/>
          </p:cNvSpPr>
          <p:nvPr/>
        </p:nvSpPr>
        <p:spPr>
          <a:xfrm xmlns:a="http://schemas.openxmlformats.org/drawingml/2006/main">
            <a:off x="628650" y="876300"/>
            <a:ext cx="10096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7725" b="0">
                <a:solidFill>
                  <a:srgbClr val="F6F5F1"/>
                </a:solidFill>
                <a:latin typeface="Newsreader"/>
                <a:ea typeface="Newsreader"/>
                <a:cs typeface="Newsreader"/>
              </a:defRPr>
            </a:pPr>
            <a:r>
              <a:rPr sz="7725" b="0">
                <a:solidFill>
                  <a:srgbClr val="F6F5F1"/>
                </a:solidFill>
                <a:latin typeface="Newsreader"/>
                <a:ea typeface="Newsreader"/>
                <a:cs typeface="Newsreader"/>
              </a:rPr>
              <a:t>spendly.</a:t>
            </a:r>
          </a:p>
        </p:txBody>
      </p:sp>
      <p:sp>
        <p:nvSpPr>
          <p:cNvPr id="3" name="">
            <a:extLst xmlns:a="http://schemas.openxmlformats.org/drawingml/2006/main">
              <a:ext uri="{FF2B5EF4-FFF2-40B4-BE49-F238E27FC236}">
                <a16:creationId xmlns:a16="http://schemas.microsoft.com/office/drawing/2014/main" id="{E6B79EE1-6EBE-4831-BF50-BAF411DA366A}"/>
              </a:ext>
            </a:extLst>
          </p:cNvPr>
          <p:cNvSpPr>
            <a:spLocks xmlns:a="http://schemas.openxmlformats.org/drawingml/2006/main" noGrp="1"/>
          </p:cNvSpPr>
          <p:nvPr/>
        </p:nvSpPr>
        <p:spPr>
          <a:xfrm xmlns:a="http://schemas.openxmlformats.org/drawingml/2006/main">
            <a:off x="628650" y="24669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850" b="0">
                <a:solidFill>
                  <a:srgbClr val="F6F5F1"/>
                </a:solidFill>
                <a:latin typeface="Newsreader"/>
                <a:ea typeface="Newsreader"/>
                <a:cs typeface="Newsreader"/>
              </a:defRPr>
            </a:pPr>
            <a:r>
              <a:rPr sz="5850" b="0">
                <a:solidFill>
                  <a:srgbClr val="F6F5F1"/>
                </a:solidFill>
                <a:latin typeface="Newsreader"/>
                <a:ea typeface="Newsreader"/>
                <a:cs typeface="Newsreader"/>
              </a:rPr>
              <a:t>Was kannst du dir</a:t>
            </a:r>
          </a:p>
          <a:p xmlns:a="http://schemas.openxmlformats.org/drawingml/2006/main">
            <a:pPr algn="l">
              <a:defRPr sz="5850" b="0">
                <a:solidFill>
                  <a:srgbClr val="F6F5F1"/>
                </a:solidFill>
                <a:latin typeface="Newsreader"/>
                <a:ea typeface="Newsreader"/>
                <a:cs typeface="Newsreader"/>
              </a:defRPr>
            </a:pPr>
            <a:r>
              <a:rPr sz="5850" b="0">
                <a:solidFill>
                  <a:srgbClr val="F6F5F1"/>
                </a:solidFill>
                <a:latin typeface="Newsreader"/>
                <a:ea typeface="Newsreader"/>
                <a:cs typeface="Newsreader"/>
              </a:rPr>
              <a:t>heute noch leisten?</a:t>
            </a:r>
          </a:p>
        </p:txBody>
      </p:sp>
      <p:sp>
        <p:nvSpPr>
          <p:cNvPr id="4" name="">
            <a:extLst xmlns:a="http://schemas.openxmlformats.org/drawingml/2006/main">
              <a:ext uri="{FF2B5EF4-FFF2-40B4-BE49-F238E27FC236}">
                <a16:creationId xmlns:a16="http://schemas.microsoft.com/office/drawing/2014/main" id="{1F4AAE30-6F1B-4893-A608-54F9A9073B71}"/>
              </a:ext>
            </a:extLst>
          </p:cNvPr>
          <p:cNvSpPr>
            <a:spLocks xmlns:a="http://schemas.openxmlformats.org/drawingml/2006/main" noGrp="1"/>
          </p:cNvSpPr>
          <p:nvPr/>
        </p:nvSpPr>
        <p:spPr>
          <a:xfrm xmlns:a="http://schemas.openxmlformats.org/drawingml/2006/main">
            <a:off x="676275" y="4829175"/>
            <a:ext cx="10086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DCEBE2"/>
                </a:solidFill>
                <a:latin typeface="Inter"/>
                <a:ea typeface="Inter"/>
                <a:cs typeface="Inter"/>
              </a:defRPr>
            </a:pPr>
            <a:r>
              <a:rPr sz="2325" b="0">
                <a:solidFill>
                  <a:srgbClr val="DCEBE2"/>
                </a:solidFill>
                <a:latin typeface="Inter"/>
                <a:ea typeface="Inter"/>
                <a:cs typeface="Inter"/>
              </a:rPr>
              <a:t>Dein restliches Budget direkt im Blick.</a:t>
            </a:r>
          </a:p>
        </p:txBody>
      </p:sp>
      <p:sp>
        <p:nvSpPr>
          <p:cNvPr id="5" name="">
            <a:extLst xmlns:a="http://schemas.openxmlformats.org/drawingml/2006/main">
              <a:ext uri="{FF2B5EF4-FFF2-40B4-BE49-F238E27FC236}">
                <a16:creationId xmlns:a16="http://schemas.microsoft.com/office/drawing/2014/main" id="{42228BFC-4F67-4DF2-B4A1-AA5EE6DE4743}"/>
              </a:ext>
            </a:extLst>
          </p:cNvPr>
          <p:cNvSpPr>
            <a:spLocks xmlns:a="http://schemas.openxmlformats.org/drawingml/2006/main" noGrp="1"/>
          </p:cNvSpPr>
          <p:nvPr/>
        </p:nvSpPr>
        <p:spPr>
          <a:xfrm xmlns:a="http://schemas.openxmlformats.org/drawingml/2006/main">
            <a:off x="685800" y="5676900"/>
            <a:ext cx="9763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F6F5F1"/>
                </a:solidFill>
                <a:latin typeface="Inter"/>
                <a:ea typeface="Inter"/>
                <a:cs typeface="Inter"/>
              </a:defRPr>
            </a:pPr>
            <a:r>
              <a:rPr sz="1950" b="0">
                <a:solidFill>
                  <a:srgbClr val="F6F5F1"/>
                </a:solidFill>
                <a:latin typeface="Inter"/>
                <a:ea typeface="Inter"/>
                <a:cs typeface="Inter"/>
              </a:rPr>
              <a:t>Wie würdet ihr Spendly im Alltag nutzen?</a:t>
            </a:r>
          </a:p>
        </p:txBody>
      </p:sp>
    </p:spTree>
    <p:extLst>
      <p:ext uri="{BB962C8B-B14F-4D97-AF65-F5344CB8AC3E}">
        <p14:creationId xmlns:p14="http://schemas.microsoft.com/office/powerpoint/2010/main" val="5279833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2026-10-01T09:24:54.1710000Z</dcterms:created>
  <dcterms:modified xsi:type="dcterms:W3CDTF">2026-10-01T09:24:54.1710000Z</dcterms:modified>
</coreProperties>
</file>